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Lst>
  <p:sldSz cx="15544800" cy="12801600"/>
  <p:notesSz cx="6858000" cy="9144000"/>
  <p:defaultTex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0" d="100"/>
          <a:sy n="50" d="100"/>
        </p:scale>
        <p:origin x="-124" y="-1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65860" y="2095078"/>
            <a:ext cx="13213080" cy="4456853"/>
          </a:xfrm>
        </p:spPr>
        <p:txBody>
          <a:bodyPr anchor="b"/>
          <a:lstStyle>
            <a:lvl1pPr algn="ctr">
              <a:defRPr sz="10200"/>
            </a:lvl1pPr>
          </a:lstStyle>
          <a:p>
            <a:r>
              <a:rPr lang="en-US" smtClean="0"/>
              <a:t>Click to edit Master title style</a:t>
            </a:r>
            <a:endParaRPr lang="en-US" dirty="0"/>
          </a:p>
        </p:txBody>
      </p:sp>
      <p:sp>
        <p:nvSpPr>
          <p:cNvPr id="3" name="Subtitle 2"/>
          <p:cNvSpPr>
            <a:spLocks noGrp="1"/>
          </p:cNvSpPr>
          <p:nvPr>
            <p:ph type="subTitle" idx="1"/>
          </p:nvPr>
        </p:nvSpPr>
        <p:spPr>
          <a:xfrm>
            <a:off x="1943100" y="6723804"/>
            <a:ext cx="11658600" cy="3090756"/>
          </a:xfrm>
        </p:spPr>
        <p:txBody>
          <a:bodyPr/>
          <a:lstStyle>
            <a:lvl1pPr marL="0" indent="0" algn="ctr">
              <a:buNone/>
              <a:defRPr sz="4080"/>
            </a:lvl1pPr>
            <a:lvl2pPr marL="777240" indent="0" algn="ctr">
              <a:buNone/>
              <a:defRPr sz="3400"/>
            </a:lvl2pPr>
            <a:lvl3pPr marL="1554480" indent="0" algn="ctr">
              <a:buNone/>
              <a:defRPr sz="3060"/>
            </a:lvl3pPr>
            <a:lvl4pPr marL="2331720" indent="0" algn="ctr">
              <a:buNone/>
              <a:defRPr sz="2720"/>
            </a:lvl4pPr>
            <a:lvl5pPr marL="3108960" indent="0" algn="ctr">
              <a:buNone/>
              <a:defRPr sz="2720"/>
            </a:lvl5pPr>
            <a:lvl6pPr marL="3886200" indent="0" algn="ctr">
              <a:buNone/>
              <a:defRPr sz="2720"/>
            </a:lvl6pPr>
            <a:lvl7pPr marL="4663440" indent="0" algn="ctr">
              <a:buNone/>
              <a:defRPr sz="2720"/>
            </a:lvl7pPr>
            <a:lvl8pPr marL="5440680" indent="0" algn="ctr">
              <a:buNone/>
              <a:defRPr sz="2720"/>
            </a:lvl8pPr>
            <a:lvl9pPr marL="6217920" indent="0" algn="ctr">
              <a:buNone/>
              <a:defRPr sz="272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8DCD70A-0001-476D-AF22-C442974B8345}" type="datetimeFigureOut">
              <a:rPr lang="en-US" smtClean="0"/>
              <a:t>4/29/2019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6755A0-7A3D-4F55-A294-A19290B51710}" type="slidenum">
              <a:rPr lang="en-US" smtClean="0"/>
              <a:t>‹#›</a:t>
            </a:fld>
            <a:endParaRPr lang="en-US"/>
          </a:p>
        </p:txBody>
      </p:sp>
    </p:spTree>
    <p:extLst>
      <p:ext uri="{BB962C8B-B14F-4D97-AF65-F5344CB8AC3E}">
        <p14:creationId xmlns:p14="http://schemas.microsoft.com/office/powerpoint/2010/main" val="1459776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DCD70A-0001-476D-AF22-C442974B8345}" type="datetimeFigureOut">
              <a:rPr lang="en-US" smtClean="0"/>
              <a:t>4/29/2019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6755A0-7A3D-4F55-A294-A19290B51710}" type="slidenum">
              <a:rPr lang="en-US" smtClean="0"/>
              <a:t>‹#›</a:t>
            </a:fld>
            <a:endParaRPr lang="en-US"/>
          </a:p>
        </p:txBody>
      </p:sp>
    </p:spTree>
    <p:extLst>
      <p:ext uri="{BB962C8B-B14F-4D97-AF65-F5344CB8AC3E}">
        <p14:creationId xmlns:p14="http://schemas.microsoft.com/office/powerpoint/2010/main" val="2508179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0610" y="3191514"/>
            <a:ext cx="13407390" cy="5325109"/>
          </a:xfrm>
        </p:spPr>
        <p:txBody>
          <a:bodyPr anchor="b"/>
          <a:lstStyle>
            <a:lvl1pPr>
              <a:defRPr sz="10200"/>
            </a:lvl1pPr>
          </a:lstStyle>
          <a:p>
            <a:r>
              <a:rPr lang="en-US" smtClean="0"/>
              <a:t>Click to edit Master title style</a:t>
            </a:r>
            <a:endParaRPr lang="en-US" dirty="0"/>
          </a:p>
        </p:txBody>
      </p:sp>
      <p:sp>
        <p:nvSpPr>
          <p:cNvPr id="3" name="Text Placeholder 2"/>
          <p:cNvSpPr>
            <a:spLocks noGrp="1"/>
          </p:cNvSpPr>
          <p:nvPr>
            <p:ph type="body" idx="1"/>
          </p:nvPr>
        </p:nvSpPr>
        <p:spPr>
          <a:xfrm>
            <a:off x="1060610" y="8567000"/>
            <a:ext cx="13407390" cy="2800349"/>
          </a:xfrm>
        </p:spPr>
        <p:txBody>
          <a:bodyPr/>
          <a:lstStyle>
            <a:lvl1pPr marL="0" indent="0">
              <a:buNone/>
              <a:defRPr sz="4080">
                <a:solidFill>
                  <a:schemeClr val="tx1"/>
                </a:solidFill>
              </a:defRPr>
            </a:lvl1pPr>
            <a:lvl2pPr marL="777240" indent="0">
              <a:buNone/>
              <a:defRPr sz="3400">
                <a:solidFill>
                  <a:schemeClr val="tx1">
                    <a:tint val="75000"/>
                  </a:schemeClr>
                </a:solidFill>
              </a:defRPr>
            </a:lvl2pPr>
            <a:lvl3pPr marL="1554480" indent="0">
              <a:buNone/>
              <a:defRPr sz="3060">
                <a:solidFill>
                  <a:schemeClr val="tx1">
                    <a:tint val="75000"/>
                  </a:schemeClr>
                </a:solidFill>
              </a:defRPr>
            </a:lvl3pPr>
            <a:lvl4pPr marL="2331720" indent="0">
              <a:buNone/>
              <a:defRPr sz="2720">
                <a:solidFill>
                  <a:schemeClr val="tx1">
                    <a:tint val="75000"/>
                  </a:schemeClr>
                </a:solidFill>
              </a:defRPr>
            </a:lvl4pPr>
            <a:lvl5pPr marL="3108960" indent="0">
              <a:buNone/>
              <a:defRPr sz="2720">
                <a:solidFill>
                  <a:schemeClr val="tx1">
                    <a:tint val="75000"/>
                  </a:schemeClr>
                </a:solidFill>
              </a:defRPr>
            </a:lvl5pPr>
            <a:lvl6pPr marL="3886200" indent="0">
              <a:buNone/>
              <a:defRPr sz="2720">
                <a:solidFill>
                  <a:schemeClr val="tx1">
                    <a:tint val="75000"/>
                  </a:schemeClr>
                </a:solidFill>
              </a:defRPr>
            </a:lvl6pPr>
            <a:lvl7pPr marL="4663440" indent="0">
              <a:buNone/>
              <a:defRPr sz="2720">
                <a:solidFill>
                  <a:schemeClr val="tx1">
                    <a:tint val="75000"/>
                  </a:schemeClr>
                </a:solidFill>
              </a:defRPr>
            </a:lvl7pPr>
            <a:lvl8pPr marL="5440680" indent="0">
              <a:buNone/>
              <a:defRPr sz="2720">
                <a:solidFill>
                  <a:schemeClr val="tx1">
                    <a:tint val="75000"/>
                  </a:schemeClr>
                </a:solidFill>
              </a:defRPr>
            </a:lvl8pPr>
            <a:lvl9pPr marL="6217920" indent="0">
              <a:buNone/>
              <a:defRPr sz="272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8DCD70A-0001-476D-AF22-C442974B8345}" type="datetimeFigureOut">
              <a:rPr lang="en-US" smtClean="0"/>
              <a:t>4/29/2019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6755A0-7A3D-4F55-A294-A19290B51710}" type="slidenum">
              <a:rPr lang="en-US" smtClean="0"/>
              <a:t>‹#›</a:t>
            </a:fld>
            <a:endParaRPr lang="en-US"/>
          </a:p>
        </p:txBody>
      </p:sp>
    </p:spTree>
    <p:extLst>
      <p:ext uri="{BB962C8B-B14F-4D97-AF65-F5344CB8AC3E}">
        <p14:creationId xmlns:p14="http://schemas.microsoft.com/office/powerpoint/2010/main" val="534229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8705" y="3407833"/>
            <a:ext cx="6606540" cy="81224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869555" y="3407833"/>
            <a:ext cx="6606540" cy="81224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8DCD70A-0001-476D-AF22-C442974B8345}" type="datetimeFigureOut">
              <a:rPr lang="en-US" smtClean="0"/>
              <a:t>4/29/2019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6755A0-7A3D-4F55-A294-A19290B51710}" type="slidenum">
              <a:rPr lang="en-US" smtClean="0"/>
              <a:t>‹#›</a:t>
            </a:fld>
            <a:endParaRPr lang="en-US"/>
          </a:p>
        </p:txBody>
      </p:sp>
    </p:spTree>
    <p:extLst>
      <p:ext uri="{BB962C8B-B14F-4D97-AF65-F5344CB8AC3E}">
        <p14:creationId xmlns:p14="http://schemas.microsoft.com/office/powerpoint/2010/main" val="2808355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70730" y="681570"/>
            <a:ext cx="13407390" cy="2474384"/>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70731" y="3138171"/>
            <a:ext cx="6576178" cy="1537969"/>
          </a:xfrm>
        </p:spPr>
        <p:txBody>
          <a:bodyPr anchor="b"/>
          <a:lstStyle>
            <a:lvl1pPr marL="0" indent="0">
              <a:buNone/>
              <a:defRPr sz="4080" b="1"/>
            </a:lvl1pPr>
            <a:lvl2pPr marL="777240" indent="0">
              <a:buNone/>
              <a:defRPr sz="3400" b="1"/>
            </a:lvl2pPr>
            <a:lvl3pPr marL="1554480" indent="0">
              <a:buNone/>
              <a:defRPr sz="3060" b="1"/>
            </a:lvl3pPr>
            <a:lvl4pPr marL="2331720" indent="0">
              <a:buNone/>
              <a:defRPr sz="2720" b="1"/>
            </a:lvl4pPr>
            <a:lvl5pPr marL="3108960" indent="0">
              <a:buNone/>
              <a:defRPr sz="2720" b="1"/>
            </a:lvl5pPr>
            <a:lvl6pPr marL="3886200" indent="0">
              <a:buNone/>
              <a:defRPr sz="2720" b="1"/>
            </a:lvl6pPr>
            <a:lvl7pPr marL="4663440" indent="0">
              <a:buNone/>
              <a:defRPr sz="2720" b="1"/>
            </a:lvl7pPr>
            <a:lvl8pPr marL="5440680" indent="0">
              <a:buNone/>
              <a:defRPr sz="2720" b="1"/>
            </a:lvl8pPr>
            <a:lvl9pPr marL="6217920" indent="0">
              <a:buNone/>
              <a:defRPr sz="2720" b="1"/>
            </a:lvl9pPr>
          </a:lstStyle>
          <a:p>
            <a:pPr lvl="0"/>
            <a:r>
              <a:rPr lang="en-US" smtClean="0"/>
              <a:t>Edit Master text styles</a:t>
            </a:r>
          </a:p>
        </p:txBody>
      </p:sp>
      <p:sp>
        <p:nvSpPr>
          <p:cNvPr id="4" name="Content Placeholder 3"/>
          <p:cNvSpPr>
            <a:spLocks noGrp="1"/>
          </p:cNvSpPr>
          <p:nvPr>
            <p:ph sz="half" idx="2"/>
          </p:nvPr>
        </p:nvSpPr>
        <p:spPr>
          <a:xfrm>
            <a:off x="1070731" y="4676140"/>
            <a:ext cx="6576178" cy="68778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869556" y="3138171"/>
            <a:ext cx="6608565" cy="1537969"/>
          </a:xfrm>
        </p:spPr>
        <p:txBody>
          <a:bodyPr anchor="b"/>
          <a:lstStyle>
            <a:lvl1pPr marL="0" indent="0">
              <a:buNone/>
              <a:defRPr sz="4080" b="1"/>
            </a:lvl1pPr>
            <a:lvl2pPr marL="777240" indent="0">
              <a:buNone/>
              <a:defRPr sz="3400" b="1"/>
            </a:lvl2pPr>
            <a:lvl3pPr marL="1554480" indent="0">
              <a:buNone/>
              <a:defRPr sz="3060" b="1"/>
            </a:lvl3pPr>
            <a:lvl4pPr marL="2331720" indent="0">
              <a:buNone/>
              <a:defRPr sz="2720" b="1"/>
            </a:lvl4pPr>
            <a:lvl5pPr marL="3108960" indent="0">
              <a:buNone/>
              <a:defRPr sz="2720" b="1"/>
            </a:lvl5pPr>
            <a:lvl6pPr marL="3886200" indent="0">
              <a:buNone/>
              <a:defRPr sz="2720" b="1"/>
            </a:lvl6pPr>
            <a:lvl7pPr marL="4663440" indent="0">
              <a:buNone/>
              <a:defRPr sz="2720" b="1"/>
            </a:lvl7pPr>
            <a:lvl8pPr marL="5440680" indent="0">
              <a:buNone/>
              <a:defRPr sz="2720" b="1"/>
            </a:lvl8pPr>
            <a:lvl9pPr marL="6217920" indent="0">
              <a:buNone/>
              <a:defRPr sz="2720" b="1"/>
            </a:lvl9pPr>
          </a:lstStyle>
          <a:p>
            <a:pPr lvl="0"/>
            <a:r>
              <a:rPr lang="en-US" smtClean="0"/>
              <a:t>Edit Master text styles</a:t>
            </a:r>
          </a:p>
        </p:txBody>
      </p:sp>
      <p:sp>
        <p:nvSpPr>
          <p:cNvPr id="6" name="Content Placeholder 5"/>
          <p:cNvSpPr>
            <a:spLocks noGrp="1"/>
          </p:cNvSpPr>
          <p:nvPr>
            <p:ph sz="quarter" idx="4"/>
          </p:nvPr>
        </p:nvSpPr>
        <p:spPr>
          <a:xfrm>
            <a:off x="7869556" y="4676140"/>
            <a:ext cx="6608565" cy="68778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8DCD70A-0001-476D-AF22-C442974B8345}" type="datetimeFigureOut">
              <a:rPr lang="en-US" smtClean="0"/>
              <a:t>4/29/2019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6755A0-7A3D-4F55-A294-A19290B51710}" type="slidenum">
              <a:rPr lang="en-US" smtClean="0"/>
              <a:t>‹#›</a:t>
            </a:fld>
            <a:endParaRPr lang="en-US"/>
          </a:p>
        </p:txBody>
      </p:sp>
    </p:spTree>
    <p:extLst>
      <p:ext uri="{BB962C8B-B14F-4D97-AF65-F5344CB8AC3E}">
        <p14:creationId xmlns:p14="http://schemas.microsoft.com/office/powerpoint/2010/main" val="2567216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8DCD70A-0001-476D-AF22-C442974B8345}" type="datetimeFigureOut">
              <a:rPr lang="en-US" smtClean="0"/>
              <a:t>4/29/2019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6755A0-7A3D-4F55-A294-A19290B51710}" type="slidenum">
              <a:rPr lang="en-US" smtClean="0"/>
              <a:t>‹#›</a:t>
            </a:fld>
            <a:endParaRPr lang="en-US"/>
          </a:p>
        </p:txBody>
      </p:sp>
    </p:spTree>
    <p:extLst>
      <p:ext uri="{BB962C8B-B14F-4D97-AF65-F5344CB8AC3E}">
        <p14:creationId xmlns:p14="http://schemas.microsoft.com/office/powerpoint/2010/main" val="1883659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DCD70A-0001-476D-AF22-C442974B8345}" type="datetimeFigureOut">
              <a:rPr lang="en-US" smtClean="0"/>
              <a:t>4/29/2019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6755A0-7A3D-4F55-A294-A19290B51710}" type="slidenum">
              <a:rPr lang="en-US" smtClean="0"/>
              <a:t>‹#›</a:t>
            </a:fld>
            <a:endParaRPr lang="en-US"/>
          </a:p>
        </p:txBody>
      </p:sp>
    </p:spTree>
    <p:extLst>
      <p:ext uri="{BB962C8B-B14F-4D97-AF65-F5344CB8AC3E}">
        <p14:creationId xmlns:p14="http://schemas.microsoft.com/office/powerpoint/2010/main" val="1079037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0730" y="853440"/>
            <a:ext cx="5013603" cy="2987040"/>
          </a:xfrm>
        </p:spPr>
        <p:txBody>
          <a:bodyPr anchor="b"/>
          <a:lstStyle>
            <a:lvl1pPr>
              <a:defRPr sz="5440"/>
            </a:lvl1pPr>
          </a:lstStyle>
          <a:p>
            <a:r>
              <a:rPr lang="en-US" smtClean="0"/>
              <a:t>Click to edit Master title style</a:t>
            </a:r>
            <a:endParaRPr lang="en-US" dirty="0"/>
          </a:p>
        </p:txBody>
      </p:sp>
      <p:sp>
        <p:nvSpPr>
          <p:cNvPr id="3" name="Content Placeholder 2"/>
          <p:cNvSpPr>
            <a:spLocks noGrp="1"/>
          </p:cNvSpPr>
          <p:nvPr>
            <p:ph idx="1"/>
          </p:nvPr>
        </p:nvSpPr>
        <p:spPr>
          <a:xfrm>
            <a:off x="6608565" y="1843196"/>
            <a:ext cx="7869555" cy="9097433"/>
          </a:xfrm>
        </p:spPr>
        <p:txBody>
          <a:bodyPr/>
          <a:lstStyle>
            <a:lvl1pPr>
              <a:defRPr sz="5440"/>
            </a:lvl1pPr>
            <a:lvl2pPr>
              <a:defRPr sz="4760"/>
            </a:lvl2pPr>
            <a:lvl3pPr>
              <a:defRPr sz="4080"/>
            </a:lvl3pPr>
            <a:lvl4pPr>
              <a:defRPr sz="3400"/>
            </a:lvl4pPr>
            <a:lvl5pPr>
              <a:defRPr sz="3400"/>
            </a:lvl5pPr>
            <a:lvl6pPr>
              <a:defRPr sz="3400"/>
            </a:lvl6pPr>
            <a:lvl7pPr>
              <a:defRPr sz="3400"/>
            </a:lvl7pPr>
            <a:lvl8pPr>
              <a:defRPr sz="3400"/>
            </a:lvl8pPr>
            <a:lvl9pPr>
              <a:defRPr sz="3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0730" y="3840480"/>
            <a:ext cx="5013603" cy="7114964"/>
          </a:xfrm>
        </p:spPr>
        <p:txBody>
          <a:bodyPr/>
          <a:lstStyle>
            <a:lvl1pPr marL="0" indent="0">
              <a:buNone/>
              <a:defRPr sz="2720"/>
            </a:lvl1pPr>
            <a:lvl2pPr marL="777240" indent="0">
              <a:buNone/>
              <a:defRPr sz="2380"/>
            </a:lvl2pPr>
            <a:lvl3pPr marL="1554480" indent="0">
              <a:buNone/>
              <a:defRPr sz="2040"/>
            </a:lvl3pPr>
            <a:lvl4pPr marL="2331720" indent="0">
              <a:buNone/>
              <a:defRPr sz="1700"/>
            </a:lvl4pPr>
            <a:lvl5pPr marL="3108960" indent="0">
              <a:buNone/>
              <a:defRPr sz="1700"/>
            </a:lvl5pPr>
            <a:lvl6pPr marL="3886200" indent="0">
              <a:buNone/>
              <a:defRPr sz="1700"/>
            </a:lvl6pPr>
            <a:lvl7pPr marL="4663440" indent="0">
              <a:buNone/>
              <a:defRPr sz="1700"/>
            </a:lvl7pPr>
            <a:lvl8pPr marL="5440680" indent="0">
              <a:buNone/>
              <a:defRPr sz="1700"/>
            </a:lvl8pPr>
            <a:lvl9pPr marL="6217920" indent="0">
              <a:buNone/>
              <a:defRPr sz="1700"/>
            </a:lvl9pPr>
          </a:lstStyle>
          <a:p>
            <a:pPr lvl="0"/>
            <a:r>
              <a:rPr lang="en-US" smtClean="0"/>
              <a:t>Edit Master text styles</a:t>
            </a:r>
          </a:p>
        </p:txBody>
      </p:sp>
      <p:sp>
        <p:nvSpPr>
          <p:cNvPr id="5" name="Date Placeholder 4"/>
          <p:cNvSpPr>
            <a:spLocks noGrp="1"/>
          </p:cNvSpPr>
          <p:nvPr>
            <p:ph type="dt" sz="half" idx="10"/>
          </p:nvPr>
        </p:nvSpPr>
        <p:spPr/>
        <p:txBody>
          <a:bodyPr/>
          <a:lstStyle/>
          <a:p>
            <a:fld id="{28DCD70A-0001-476D-AF22-C442974B8345}" type="datetimeFigureOut">
              <a:rPr lang="en-US" smtClean="0"/>
              <a:t>4/29/2019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6755A0-7A3D-4F55-A294-A19290B51710}" type="slidenum">
              <a:rPr lang="en-US" smtClean="0"/>
              <a:t>‹#›</a:t>
            </a:fld>
            <a:endParaRPr lang="en-US"/>
          </a:p>
        </p:txBody>
      </p:sp>
    </p:spTree>
    <p:extLst>
      <p:ext uri="{BB962C8B-B14F-4D97-AF65-F5344CB8AC3E}">
        <p14:creationId xmlns:p14="http://schemas.microsoft.com/office/powerpoint/2010/main" val="3583300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0730" y="853440"/>
            <a:ext cx="5013603" cy="2987040"/>
          </a:xfrm>
        </p:spPr>
        <p:txBody>
          <a:bodyPr anchor="b"/>
          <a:lstStyle>
            <a:lvl1pPr>
              <a:defRPr sz="544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608565" y="1843196"/>
            <a:ext cx="7869555" cy="9097433"/>
          </a:xfrm>
        </p:spPr>
        <p:txBody>
          <a:bodyPr anchor="t"/>
          <a:lstStyle>
            <a:lvl1pPr marL="0" indent="0">
              <a:buNone/>
              <a:defRPr sz="5440"/>
            </a:lvl1pPr>
            <a:lvl2pPr marL="777240" indent="0">
              <a:buNone/>
              <a:defRPr sz="4760"/>
            </a:lvl2pPr>
            <a:lvl3pPr marL="1554480" indent="0">
              <a:buNone/>
              <a:defRPr sz="4080"/>
            </a:lvl3pPr>
            <a:lvl4pPr marL="2331720" indent="0">
              <a:buNone/>
              <a:defRPr sz="3400"/>
            </a:lvl4pPr>
            <a:lvl5pPr marL="3108960" indent="0">
              <a:buNone/>
              <a:defRPr sz="3400"/>
            </a:lvl5pPr>
            <a:lvl6pPr marL="3886200" indent="0">
              <a:buNone/>
              <a:defRPr sz="3400"/>
            </a:lvl6pPr>
            <a:lvl7pPr marL="4663440" indent="0">
              <a:buNone/>
              <a:defRPr sz="3400"/>
            </a:lvl7pPr>
            <a:lvl8pPr marL="5440680" indent="0">
              <a:buNone/>
              <a:defRPr sz="3400"/>
            </a:lvl8pPr>
            <a:lvl9pPr marL="6217920" indent="0">
              <a:buNone/>
              <a:defRPr sz="3400"/>
            </a:lvl9pPr>
          </a:lstStyle>
          <a:p>
            <a:r>
              <a:rPr lang="en-US" smtClean="0"/>
              <a:t>Click icon to add picture</a:t>
            </a:r>
            <a:endParaRPr lang="en-US" dirty="0"/>
          </a:p>
        </p:txBody>
      </p:sp>
      <p:sp>
        <p:nvSpPr>
          <p:cNvPr id="4" name="Text Placeholder 3"/>
          <p:cNvSpPr>
            <a:spLocks noGrp="1"/>
          </p:cNvSpPr>
          <p:nvPr>
            <p:ph type="body" sz="half" idx="2"/>
          </p:nvPr>
        </p:nvSpPr>
        <p:spPr>
          <a:xfrm>
            <a:off x="1070730" y="3840480"/>
            <a:ext cx="5013603" cy="7114964"/>
          </a:xfrm>
        </p:spPr>
        <p:txBody>
          <a:bodyPr/>
          <a:lstStyle>
            <a:lvl1pPr marL="0" indent="0">
              <a:buNone/>
              <a:defRPr sz="2720"/>
            </a:lvl1pPr>
            <a:lvl2pPr marL="777240" indent="0">
              <a:buNone/>
              <a:defRPr sz="2380"/>
            </a:lvl2pPr>
            <a:lvl3pPr marL="1554480" indent="0">
              <a:buNone/>
              <a:defRPr sz="2040"/>
            </a:lvl3pPr>
            <a:lvl4pPr marL="2331720" indent="0">
              <a:buNone/>
              <a:defRPr sz="1700"/>
            </a:lvl4pPr>
            <a:lvl5pPr marL="3108960" indent="0">
              <a:buNone/>
              <a:defRPr sz="1700"/>
            </a:lvl5pPr>
            <a:lvl6pPr marL="3886200" indent="0">
              <a:buNone/>
              <a:defRPr sz="1700"/>
            </a:lvl6pPr>
            <a:lvl7pPr marL="4663440" indent="0">
              <a:buNone/>
              <a:defRPr sz="1700"/>
            </a:lvl7pPr>
            <a:lvl8pPr marL="5440680" indent="0">
              <a:buNone/>
              <a:defRPr sz="1700"/>
            </a:lvl8pPr>
            <a:lvl9pPr marL="6217920" indent="0">
              <a:buNone/>
              <a:defRPr sz="1700"/>
            </a:lvl9pPr>
          </a:lstStyle>
          <a:p>
            <a:pPr lvl="0"/>
            <a:r>
              <a:rPr lang="en-US" smtClean="0"/>
              <a:t>Edit Master text styles</a:t>
            </a:r>
          </a:p>
        </p:txBody>
      </p:sp>
      <p:sp>
        <p:nvSpPr>
          <p:cNvPr id="5" name="Date Placeholder 4"/>
          <p:cNvSpPr>
            <a:spLocks noGrp="1"/>
          </p:cNvSpPr>
          <p:nvPr>
            <p:ph type="dt" sz="half" idx="10"/>
          </p:nvPr>
        </p:nvSpPr>
        <p:spPr/>
        <p:txBody>
          <a:bodyPr/>
          <a:lstStyle/>
          <a:p>
            <a:fld id="{28DCD70A-0001-476D-AF22-C442974B8345}" type="datetimeFigureOut">
              <a:rPr lang="en-US" smtClean="0"/>
              <a:t>4/29/2019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6755A0-7A3D-4F55-A294-A19290B51710}" type="slidenum">
              <a:rPr lang="en-US" smtClean="0"/>
              <a:t>‹#›</a:t>
            </a:fld>
            <a:endParaRPr lang="en-US"/>
          </a:p>
        </p:txBody>
      </p:sp>
    </p:spTree>
    <p:extLst>
      <p:ext uri="{BB962C8B-B14F-4D97-AF65-F5344CB8AC3E}">
        <p14:creationId xmlns:p14="http://schemas.microsoft.com/office/powerpoint/2010/main" val="97683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DCD70A-0001-476D-AF22-C442974B8345}" type="datetimeFigureOut">
              <a:rPr lang="en-US" smtClean="0"/>
              <a:t>4/29/2019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6755A0-7A3D-4F55-A294-A19290B51710}" type="slidenum">
              <a:rPr lang="en-US" smtClean="0"/>
              <a:t>‹#›</a:t>
            </a:fld>
            <a:endParaRPr lang="en-US"/>
          </a:p>
        </p:txBody>
      </p:sp>
    </p:spTree>
    <p:extLst>
      <p:ext uri="{BB962C8B-B14F-4D97-AF65-F5344CB8AC3E}">
        <p14:creationId xmlns:p14="http://schemas.microsoft.com/office/powerpoint/2010/main" val="860583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124248" y="681567"/>
            <a:ext cx="3351848" cy="1084876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8706" y="681567"/>
            <a:ext cx="9861233" cy="1084876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DCD70A-0001-476D-AF22-C442974B8345}" type="datetimeFigureOut">
              <a:rPr lang="en-US" smtClean="0"/>
              <a:t>4/29/2019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6755A0-7A3D-4F55-A294-A19290B51710}" type="slidenum">
              <a:rPr lang="en-US" smtClean="0"/>
              <a:t>‹#›</a:t>
            </a:fld>
            <a:endParaRPr lang="en-US"/>
          </a:p>
        </p:txBody>
      </p:sp>
    </p:spTree>
    <p:extLst>
      <p:ext uri="{BB962C8B-B14F-4D97-AF65-F5344CB8AC3E}">
        <p14:creationId xmlns:p14="http://schemas.microsoft.com/office/powerpoint/2010/main" val="1369082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8705" y="681570"/>
            <a:ext cx="13407390" cy="247438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8705" y="3407833"/>
            <a:ext cx="13407390" cy="812249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8705" y="11865189"/>
            <a:ext cx="3497580" cy="681567"/>
          </a:xfrm>
          <a:prstGeom prst="rect">
            <a:avLst/>
          </a:prstGeom>
        </p:spPr>
        <p:txBody>
          <a:bodyPr vert="horz" lIns="91440" tIns="45720" rIns="91440" bIns="45720" rtlCol="0" anchor="ctr"/>
          <a:lstStyle>
            <a:lvl1pPr algn="l">
              <a:defRPr sz="2040">
                <a:solidFill>
                  <a:schemeClr val="tx1">
                    <a:tint val="75000"/>
                  </a:schemeClr>
                </a:solidFill>
              </a:defRPr>
            </a:lvl1pPr>
          </a:lstStyle>
          <a:p>
            <a:fld id="{28DCD70A-0001-476D-AF22-C442974B8345}" type="datetimeFigureOut">
              <a:rPr lang="en-US" smtClean="0"/>
              <a:t>4/29/2019</a:t>
            </a:fld>
            <a:endParaRPr lang="en-US"/>
          </a:p>
        </p:txBody>
      </p:sp>
      <p:sp>
        <p:nvSpPr>
          <p:cNvPr id="5" name="Footer Placeholder 4"/>
          <p:cNvSpPr>
            <a:spLocks noGrp="1"/>
          </p:cNvSpPr>
          <p:nvPr>
            <p:ph type="ftr" sz="quarter" idx="3"/>
          </p:nvPr>
        </p:nvSpPr>
        <p:spPr>
          <a:xfrm>
            <a:off x="5149215" y="11865189"/>
            <a:ext cx="5246370" cy="681567"/>
          </a:xfrm>
          <a:prstGeom prst="rect">
            <a:avLst/>
          </a:prstGeom>
        </p:spPr>
        <p:txBody>
          <a:bodyPr vert="horz" lIns="91440" tIns="45720" rIns="91440" bIns="45720" rtlCol="0" anchor="ctr"/>
          <a:lstStyle>
            <a:lvl1pPr algn="ctr">
              <a:defRPr sz="2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978515" y="11865189"/>
            <a:ext cx="3497580" cy="681567"/>
          </a:xfrm>
          <a:prstGeom prst="rect">
            <a:avLst/>
          </a:prstGeom>
        </p:spPr>
        <p:txBody>
          <a:bodyPr vert="horz" lIns="91440" tIns="45720" rIns="91440" bIns="45720" rtlCol="0" anchor="ctr"/>
          <a:lstStyle>
            <a:lvl1pPr algn="r">
              <a:defRPr sz="2040">
                <a:solidFill>
                  <a:schemeClr val="tx1">
                    <a:tint val="75000"/>
                  </a:schemeClr>
                </a:solidFill>
              </a:defRPr>
            </a:lvl1pPr>
          </a:lstStyle>
          <a:p>
            <a:fld id="{EB6755A0-7A3D-4F55-A294-A19290B51710}" type="slidenum">
              <a:rPr lang="en-US" smtClean="0"/>
              <a:t>‹#›</a:t>
            </a:fld>
            <a:endParaRPr lang="en-US"/>
          </a:p>
        </p:txBody>
      </p:sp>
    </p:spTree>
    <p:extLst>
      <p:ext uri="{BB962C8B-B14F-4D97-AF65-F5344CB8AC3E}">
        <p14:creationId xmlns:p14="http://schemas.microsoft.com/office/powerpoint/2010/main" val="385923312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554480" rtl="0" eaLnBrk="1" latinLnBrk="0" hangingPunct="1">
        <a:lnSpc>
          <a:spcPct val="90000"/>
        </a:lnSpc>
        <a:spcBef>
          <a:spcPct val="0"/>
        </a:spcBef>
        <a:buNone/>
        <a:defRPr sz="7480" kern="1200">
          <a:solidFill>
            <a:schemeClr val="tx1"/>
          </a:solidFill>
          <a:latin typeface="+mj-lt"/>
          <a:ea typeface="+mj-ea"/>
          <a:cs typeface="+mj-cs"/>
        </a:defRPr>
      </a:lvl1pPr>
    </p:titleStyle>
    <p:bodyStyle>
      <a:lvl1pPr marL="388620" indent="-388620" algn="l" defTabSz="1554480" rtl="0" eaLnBrk="1" latinLnBrk="0" hangingPunct="1">
        <a:lnSpc>
          <a:spcPct val="90000"/>
        </a:lnSpc>
        <a:spcBef>
          <a:spcPts val="1700"/>
        </a:spcBef>
        <a:buFont typeface="Arial" panose="020B0604020202020204" pitchFamily="34" charset="0"/>
        <a:buChar char="•"/>
        <a:defRPr sz="4760" kern="1200">
          <a:solidFill>
            <a:schemeClr val="tx1"/>
          </a:solidFill>
          <a:latin typeface="+mn-lt"/>
          <a:ea typeface="+mn-ea"/>
          <a:cs typeface="+mn-cs"/>
        </a:defRPr>
      </a:lvl1pPr>
      <a:lvl2pPr marL="1165860" indent="-388620" algn="l" defTabSz="1554480" rtl="0" eaLnBrk="1" latinLnBrk="0" hangingPunct="1">
        <a:lnSpc>
          <a:spcPct val="90000"/>
        </a:lnSpc>
        <a:spcBef>
          <a:spcPts val="850"/>
        </a:spcBef>
        <a:buFont typeface="Arial" panose="020B0604020202020204" pitchFamily="34" charset="0"/>
        <a:buChar char="•"/>
        <a:defRPr sz="4080" kern="1200">
          <a:solidFill>
            <a:schemeClr val="tx1"/>
          </a:solidFill>
          <a:latin typeface="+mn-lt"/>
          <a:ea typeface="+mn-ea"/>
          <a:cs typeface="+mn-cs"/>
        </a:defRPr>
      </a:lvl2pPr>
      <a:lvl3pPr marL="1943100" indent="-388620" algn="l" defTabSz="1554480" rtl="0" eaLnBrk="1" latinLnBrk="0" hangingPunct="1">
        <a:lnSpc>
          <a:spcPct val="90000"/>
        </a:lnSpc>
        <a:spcBef>
          <a:spcPts val="850"/>
        </a:spcBef>
        <a:buFont typeface="Arial" panose="020B0604020202020204" pitchFamily="34" charset="0"/>
        <a:buChar char="•"/>
        <a:defRPr sz="3400" kern="1200">
          <a:solidFill>
            <a:schemeClr val="tx1"/>
          </a:solidFill>
          <a:latin typeface="+mn-lt"/>
          <a:ea typeface="+mn-ea"/>
          <a:cs typeface="+mn-cs"/>
        </a:defRPr>
      </a:lvl3pPr>
      <a:lvl4pPr marL="2720340" indent="-388620" algn="l" defTabSz="1554480" rtl="0" eaLnBrk="1" latinLnBrk="0" hangingPunct="1">
        <a:lnSpc>
          <a:spcPct val="90000"/>
        </a:lnSpc>
        <a:spcBef>
          <a:spcPts val="850"/>
        </a:spcBef>
        <a:buFont typeface="Arial" panose="020B0604020202020204" pitchFamily="34" charset="0"/>
        <a:buChar char="•"/>
        <a:defRPr sz="3060" kern="1200">
          <a:solidFill>
            <a:schemeClr val="tx1"/>
          </a:solidFill>
          <a:latin typeface="+mn-lt"/>
          <a:ea typeface="+mn-ea"/>
          <a:cs typeface="+mn-cs"/>
        </a:defRPr>
      </a:lvl4pPr>
      <a:lvl5pPr marL="3497580" indent="-388620" algn="l" defTabSz="1554480" rtl="0" eaLnBrk="1" latinLnBrk="0" hangingPunct="1">
        <a:lnSpc>
          <a:spcPct val="90000"/>
        </a:lnSpc>
        <a:spcBef>
          <a:spcPts val="850"/>
        </a:spcBef>
        <a:buFont typeface="Arial" panose="020B0604020202020204" pitchFamily="34" charset="0"/>
        <a:buChar char="•"/>
        <a:defRPr sz="3060" kern="1200">
          <a:solidFill>
            <a:schemeClr val="tx1"/>
          </a:solidFill>
          <a:latin typeface="+mn-lt"/>
          <a:ea typeface="+mn-ea"/>
          <a:cs typeface="+mn-cs"/>
        </a:defRPr>
      </a:lvl5pPr>
      <a:lvl6pPr marL="4274820" indent="-388620" algn="l" defTabSz="1554480" rtl="0" eaLnBrk="1" latinLnBrk="0" hangingPunct="1">
        <a:lnSpc>
          <a:spcPct val="90000"/>
        </a:lnSpc>
        <a:spcBef>
          <a:spcPts val="850"/>
        </a:spcBef>
        <a:buFont typeface="Arial" panose="020B0604020202020204" pitchFamily="34" charset="0"/>
        <a:buChar char="•"/>
        <a:defRPr sz="3060" kern="1200">
          <a:solidFill>
            <a:schemeClr val="tx1"/>
          </a:solidFill>
          <a:latin typeface="+mn-lt"/>
          <a:ea typeface="+mn-ea"/>
          <a:cs typeface="+mn-cs"/>
        </a:defRPr>
      </a:lvl6pPr>
      <a:lvl7pPr marL="5052060" indent="-388620" algn="l" defTabSz="1554480" rtl="0" eaLnBrk="1" latinLnBrk="0" hangingPunct="1">
        <a:lnSpc>
          <a:spcPct val="90000"/>
        </a:lnSpc>
        <a:spcBef>
          <a:spcPts val="850"/>
        </a:spcBef>
        <a:buFont typeface="Arial" panose="020B0604020202020204" pitchFamily="34" charset="0"/>
        <a:buChar char="•"/>
        <a:defRPr sz="3060" kern="1200">
          <a:solidFill>
            <a:schemeClr val="tx1"/>
          </a:solidFill>
          <a:latin typeface="+mn-lt"/>
          <a:ea typeface="+mn-ea"/>
          <a:cs typeface="+mn-cs"/>
        </a:defRPr>
      </a:lvl7pPr>
      <a:lvl8pPr marL="5829300" indent="-388620" algn="l" defTabSz="1554480" rtl="0" eaLnBrk="1" latinLnBrk="0" hangingPunct="1">
        <a:lnSpc>
          <a:spcPct val="90000"/>
        </a:lnSpc>
        <a:spcBef>
          <a:spcPts val="850"/>
        </a:spcBef>
        <a:buFont typeface="Arial" panose="020B0604020202020204" pitchFamily="34" charset="0"/>
        <a:buChar char="•"/>
        <a:defRPr sz="3060" kern="1200">
          <a:solidFill>
            <a:schemeClr val="tx1"/>
          </a:solidFill>
          <a:latin typeface="+mn-lt"/>
          <a:ea typeface="+mn-ea"/>
          <a:cs typeface="+mn-cs"/>
        </a:defRPr>
      </a:lvl8pPr>
      <a:lvl9pPr marL="6606540" indent="-388620" algn="l" defTabSz="1554480" rtl="0" eaLnBrk="1" latinLnBrk="0" hangingPunct="1">
        <a:lnSpc>
          <a:spcPct val="90000"/>
        </a:lnSpc>
        <a:spcBef>
          <a:spcPts val="850"/>
        </a:spcBef>
        <a:buFont typeface="Arial" panose="020B0604020202020204" pitchFamily="34" charset="0"/>
        <a:buChar char="•"/>
        <a:defRPr sz="3060" kern="1200">
          <a:solidFill>
            <a:schemeClr val="tx1"/>
          </a:solidFill>
          <a:latin typeface="+mn-lt"/>
          <a:ea typeface="+mn-ea"/>
          <a:cs typeface="+mn-cs"/>
        </a:defRPr>
      </a:lvl9pPr>
    </p:bodyStyle>
    <p:otherStyle>
      <a:defPPr>
        <a:defRPr lang="en-US"/>
      </a:defPPr>
      <a:lvl1pPr marL="0" algn="l" defTabSz="1554480" rtl="0" eaLnBrk="1" latinLnBrk="0" hangingPunct="1">
        <a:defRPr sz="3060" kern="1200">
          <a:solidFill>
            <a:schemeClr val="tx1"/>
          </a:solidFill>
          <a:latin typeface="+mn-lt"/>
          <a:ea typeface="+mn-ea"/>
          <a:cs typeface="+mn-cs"/>
        </a:defRPr>
      </a:lvl1pPr>
      <a:lvl2pPr marL="777240" algn="l" defTabSz="1554480" rtl="0" eaLnBrk="1" latinLnBrk="0" hangingPunct="1">
        <a:defRPr sz="3060" kern="1200">
          <a:solidFill>
            <a:schemeClr val="tx1"/>
          </a:solidFill>
          <a:latin typeface="+mn-lt"/>
          <a:ea typeface="+mn-ea"/>
          <a:cs typeface="+mn-cs"/>
        </a:defRPr>
      </a:lvl2pPr>
      <a:lvl3pPr marL="1554480" algn="l" defTabSz="1554480" rtl="0" eaLnBrk="1" latinLnBrk="0" hangingPunct="1">
        <a:defRPr sz="3060" kern="1200">
          <a:solidFill>
            <a:schemeClr val="tx1"/>
          </a:solidFill>
          <a:latin typeface="+mn-lt"/>
          <a:ea typeface="+mn-ea"/>
          <a:cs typeface="+mn-cs"/>
        </a:defRPr>
      </a:lvl3pPr>
      <a:lvl4pPr marL="2331720" algn="l" defTabSz="1554480" rtl="0" eaLnBrk="1" latinLnBrk="0" hangingPunct="1">
        <a:defRPr sz="3060" kern="1200">
          <a:solidFill>
            <a:schemeClr val="tx1"/>
          </a:solidFill>
          <a:latin typeface="+mn-lt"/>
          <a:ea typeface="+mn-ea"/>
          <a:cs typeface="+mn-cs"/>
        </a:defRPr>
      </a:lvl4pPr>
      <a:lvl5pPr marL="3108960" algn="l" defTabSz="1554480" rtl="0" eaLnBrk="1" latinLnBrk="0" hangingPunct="1">
        <a:defRPr sz="3060" kern="1200">
          <a:solidFill>
            <a:schemeClr val="tx1"/>
          </a:solidFill>
          <a:latin typeface="+mn-lt"/>
          <a:ea typeface="+mn-ea"/>
          <a:cs typeface="+mn-cs"/>
        </a:defRPr>
      </a:lvl5pPr>
      <a:lvl6pPr marL="3886200" algn="l" defTabSz="1554480" rtl="0" eaLnBrk="1" latinLnBrk="0" hangingPunct="1">
        <a:defRPr sz="3060" kern="1200">
          <a:solidFill>
            <a:schemeClr val="tx1"/>
          </a:solidFill>
          <a:latin typeface="+mn-lt"/>
          <a:ea typeface="+mn-ea"/>
          <a:cs typeface="+mn-cs"/>
        </a:defRPr>
      </a:lvl6pPr>
      <a:lvl7pPr marL="4663440" algn="l" defTabSz="1554480" rtl="0" eaLnBrk="1" latinLnBrk="0" hangingPunct="1">
        <a:defRPr sz="3060" kern="1200">
          <a:solidFill>
            <a:schemeClr val="tx1"/>
          </a:solidFill>
          <a:latin typeface="+mn-lt"/>
          <a:ea typeface="+mn-ea"/>
          <a:cs typeface="+mn-cs"/>
        </a:defRPr>
      </a:lvl7pPr>
      <a:lvl8pPr marL="5440680" algn="l" defTabSz="1554480" rtl="0" eaLnBrk="1" latinLnBrk="0" hangingPunct="1">
        <a:defRPr sz="3060" kern="1200">
          <a:solidFill>
            <a:schemeClr val="tx1"/>
          </a:solidFill>
          <a:latin typeface="+mn-lt"/>
          <a:ea typeface="+mn-ea"/>
          <a:cs typeface="+mn-cs"/>
        </a:defRPr>
      </a:lvl8pPr>
      <a:lvl9pPr marL="6217920" algn="l" defTabSz="1554480" rtl="0" eaLnBrk="1" latinLnBrk="0" hangingPunct="1">
        <a:defRPr sz="30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7.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90.png"/><Relationship Id="rId11" Type="http://schemas.openxmlformats.org/officeDocument/2006/relationships/image" Target="../media/image14.png"/><Relationship Id="rId5" Type="http://schemas.openxmlformats.org/officeDocument/2006/relationships/image" Target="../media/image80.png"/><Relationship Id="rId15" Type="http://schemas.openxmlformats.org/officeDocument/2006/relationships/image" Target="../media/image19.png"/><Relationship Id="rId10" Type="http://schemas.openxmlformats.org/officeDocument/2006/relationships/image" Target="../media/image13.png"/><Relationship Id="rId4" Type="http://schemas.openxmlformats.org/officeDocument/2006/relationships/image" Target="../media/image9.png"/><Relationship Id="rId9" Type="http://schemas.openxmlformats.org/officeDocument/2006/relationships/image" Target="../media/image12.png"/><Relationship Id="rId1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p:cNvSpPr txBox="1"/>
              <p:nvPr/>
            </p:nvSpPr>
            <p:spPr>
              <a:xfrm>
                <a:off x="5894175" y="5852703"/>
                <a:ext cx="8694821" cy="6407908"/>
              </a:xfrm>
              <a:prstGeom prst="rect">
                <a:avLst/>
              </a:prstGeom>
              <a:noFill/>
            </p:spPr>
            <p:txBody>
              <a:bodyPr wrap="square" rtlCol="0">
                <a:spAutoFit/>
              </a:bodyPr>
              <a:lstStyle/>
              <a:p>
                <a:pPr marL="342900" indent="-342900">
                  <a:buFont typeface="Arial" panose="020B0604020202020204" pitchFamily="34" charset="0"/>
                  <a:buChar char="•"/>
                </a:pPr>
                <a:r>
                  <a:rPr lang="en-US" i="1" smtClean="0"/>
                  <a:t>On-policy</a:t>
                </a:r>
                <a:r>
                  <a:rPr lang="en-US" smtClean="0"/>
                  <a:t>: learn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r>
                          <a:rPr lang="en-US" i="1" smtClean="0">
                            <a:latin typeface="Cambria Math" panose="02040503050406030204" pitchFamily="18" charset="0"/>
                            <a:ea typeface="Cambria Math" panose="02040503050406030204" pitchFamily="18" charset="0"/>
                          </a:rPr>
                          <m:t>𝜋</m:t>
                        </m:r>
                      </m:sub>
                    </m:sSub>
                  </m:oMath>
                </a14:m>
                <a:r>
                  <a:rPr lang="en-US" smtClean="0"/>
                  <a:t> and improve </a:t>
                </a:r>
                <a14:m>
                  <m:oMath xmlns:m="http://schemas.openxmlformats.org/officeDocument/2006/math">
                    <m:r>
                      <a:rPr lang="en-US" i="1">
                        <a:latin typeface="Cambria Math" panose="02040503050406030204" pitchFamily="18" charset="0"/>
                        <a:ea typeface="Cambria Math" panose="02040503050406030204" pitchFamily="18" charset="0"/>
                      </a:rPr>
                      <m:t>𝜋</m:t>
                    </m:r>
                  </m:oMath>
                </a14:m>
                <a:r>
                  <a:rPr lang="en-US" smtClean="0"/>
                  <a:t> while following </a:t>
                </a:r>
                <a14:m>
                  <m:oMath xmlns:m="http://schemas.openxmlformats.org/officeDocument/2006/math">
                    <m:r>
                      <a:rPr lang="en-US" i="1">
                        <a:latin typeface="Cambria Math" panose="02040503050406030204" pitchFamily="18" charset="0"/>
                        <a:ea typeface="Cambria Math" panose="02040503050406030204" pitchFamily="18" charset="0"/>
                      </a:rPr>
                      <m:t>𝜋</m:t>
                    </m:r>
                  </m:oMath>
                </a14:m>
                <a:r>
                  <a:rPr lang="en-US" smtClean="0"/>
                  <a:t> “generally simpler”</a:t>
                </a:r>
                <a:endParaRPr lang="en-US" i="1"/>
              </a:p>
              <a:p>
                <a:pPr marL="342900" indent="-342900">
                  <a:buFont typeface="Arial" panose="020B0604020202020204" pitchFamily="34" charset="0"/>
                  <a:buChar char="•"/>
                </a:pPr>
                <a:r>
                  <a:rPr lang="en-US" i="1" smtClean="0"/>
                  <a:t>Off-policy: </a:t>
                </a:r>
                <a:r>
                  <a:rPr lang="en-US" smtClean="0"/>
                  <a:t>we have two policies; one that is learned about and becomes the optimal policy (target policy), and one that is more exploratoty and is used to generate behavior (behavior policy) ***”often of greater variance and are slower to converge” but also “more powerful and general” **coverage: every action taken under the target policy is also taken under the behavioral policy (“b must be stochastic in states where it is not identical to pi”) WHY MORE POWERFUL?</a:t>
                </a:r>
                <a:endParaRPr lang="en-US" i="1"/>
              </a:p>
              <a:p>
                <a:pPr marL="342900" indent="-342900">
                  <a:buFont typeface="Arial" panose="020B0604020202020204" pitchFamily="34" charset="0"/>
                  <a:buChar char="•"/>
                </a:pPr>
                <a:r>
                  <a:rPr lang="en-US" i="1" smtClean="0"/>
                  <a:t>Planning: </a:t>
                </a:r>
                <a:r>
                  <a:rPr lang="en-US" smtClean="0"/>
                  <a:t>“planning uses simulated experience generated by a model, learning methods use real experience generated by the environment”</a:t>
                </a:r>
                <a:endParaRPr lang="en-US" i="1"/>
              </a:p>
              <a:p>
                <a:pPr marL="342900" indent="-342900">
                  <a:buFont typeface="Arial" panose="020B0604020202020204" pitchFamily="34" charset="0"/>
                  <a:buChar char="•"/>
                </a:pPr>
                <a:r>
                  <a:rPr lang="en-US" i="1"/>
                  <a:t>Control </a:t>
                </a:r>
                <a:endParaRPr lang="en-US" i="1" smtClean="0"/>
              </a:p>
              <a:p>
                <a:pPr marL="342900" indent="-342900">
                  <a:buFont typeface="Arial" panose="020B0604020202020204" pitchFamily="34" charset="0"/>
                  <a:buChar char="•"/>
                </a:pPr>
                <a:r>
                  <a:rPr lang="en-US" i="1" smtClean="0"/>
                  <a:t>Online updates: updates are made step-by-step, as the episode unfolds, rather than all at once after the episode has been completed (IS THIS A GOOD DEFINITION)</a:t>
                </a:r>
              </a:p>
              <a:p>
                <a:pPr marL="342900" indent="-342900">
                  <a:buFont typeface="Arial" panose="020B0604020202020204" pitchFamily="34" charset="0"/>
                  <a:buChar char="•"/>
                </a:pPr>
                <a:r>
                  <a:rPr lang="en-US" i="1" smtClean="0"/>
                  <a:t>Tile coding</a:t>
                </a:r>
              </a:p>
              <a:p>
                <a:pPr marL="342900" indent="-342900">
                  <a:buFont typeface="Arial" panose="020B0604020202020204" pitchFamily="34" charset="0"/>
                  <a:buChar char="•"/>
                </a:pPr>
                <a:r>
                  <a:rPr lang="en-US" i="1" smtClean="0"/>
                  <a:t>General iterative update rule: </a:t>
                </a:r>
                <a:r>
                  <a:rPr lang="en-US" smtClean="0"/>
                  <a:t>NewEstimate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i="1" smtClean="0"/>
                  <a:t> </a:t>
                </a:r>
                <a:r>
                  <a:rPr lang="en-US" smtClean="0"/>
                  <a:t>OldEstimate + StepSize[Target – OldEstimate]</a:t>
                </a:r>
              </a:p>
              <a:p>
                <a:pPr marL="342900" indent="-342900">
                  <a:buFont typeface="Arial" panose="020B0604020202020204" pitchFamily="34" charset="0"/>
                  <a:buChar char="•"/>
                </a:pPr>
                <a:r>
                  <a:rPr lang="en-US" i="1" smtClean="0"/>
                  <a:t>Revisit: prediction vs. control</a:t>
                </a:r>
              </a:p>
              <a:p>
                <a:pPr marL="342900" indent="-342900">
                  <a:buFont typeface="Arial" panose="020B0604020202020204" pitchFamily="34" charset="0"/>
                  <a:buChar char="•"/>
                </a:pPr>
                <a:r>
                  <a:rPr lang="en-US" i="1" smtClean="0"/>
                  <a:t>Forward vs. backwards views</a:t>
                </a:r>
                <a:endParaRPr lang="en-US" i="1"/>
              </a:p>
            </p:txBody>
          </p:sp>
        </mc:Choice>
        <mc:Fallback>
          <p:sp>
            <p:nvSpPr>
              <p:cNvPr id="3" name="TextBox 2"/>
              <p:cNvSpPr txBox="1">
                <a:spLocks noRot="1" noChangeAspect="1" noMove="1" noResize="1" noEditPoints="1" noAdjustHandles="1" noChangeArrowheads="1" noChangeShapeType="1" noTextEdit="1"/>
              </p:cNvSpPr>
              <p:nvPr/>
            </p:nvSpPr>
            <p:spPr>
              <a:xfrm>
                <a:off x="5894175" y="5852703"/>
                <a:ext cx="8694821" cy="6407908"/>
              </a:xfrm>
              <a:prstGeom prst="rect">
                <a:avLst/>
              </a:prstGeom>
              <a:blipFill>
                <a:blip r:embed="rId2"/>
                <a:stretch>
                  <a:fillRect l="-771" t="-571" r="-912" b="-9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1" y="1828801"/>
                <a:ext cx="5140411" cy="43495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a:t>Markov Decision Process: </a:t>
                </a:r>
                <a:r>
                  <a:rPr lang="en-US" sz="1800"/>
                  <a:t>(1) State space S (2) Action space A (3) Reward space R (4) Environment dynamics:</a:t>
                </a:r>
              </a:p>
              <a:p>
                <a:pPr marL="891540" lvl="1" indent="-342900">
                  <a:buFont typeface="Arial" panose="020B0604020202020204" pitchFamily="34" charset="0"/>
                  <a:buChar char="•"/>
                </a:pPr>
                <a14:m>
                  <m:oMath xmlns:m="http://schemas.openxmlformats.org/officeDocument/2006/math">
                    <m:r>
                      <a:rPr lang="en-US" sz="1800" i="1">
                        <a:latin typeface="Cambria Math" panose="02040503050406030204" pitchFamily="18" charset="0"/>
                      </a:rPr>
                      <m:t>𝑝</m:t>
                    </m:r>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𝑟</m:t>
                        </m:r>
                      </m:e>
                      <m:e>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e>
                    </m:d>
                  </m:oMath>
                </a14:m>
                <a:r>
                  <a:rPr lang="en-US" sz="1800"/>
                  <a:t> - probability of next state </a:t>
                </a:r>
                <a14:m>
                  <m:oMath xmlns:m="http://schemas.openxmlformats.org/officeDocument/2006/math">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oMath>
                </a14:m>
                <a:r>
                  <a:rPr lang="en-US" sz="1800"/>
                  <a:t> and reward </a:t>
                </a:r>
                <a14:m>
                  <m:oMath xmlns:m="http://schemas.openxmlformats.org/officeDocument/2006/math">
                    <m:r>
                      <a:rPr lang="en-US" sz="1800" i="1">
                        <a:latin typeface="Cambria Math" panose="02040503050406030204" pitchFamily="18" charset="0"/>
                      </a:rPr>
                      <m:t>𝑟</m:t>
                    </m:r>
                  </m:oMath>
                </a14:m>
                <a:r>
                  <a:rPr lang="en-US" sz="1800"/>
                  <a:t> given our current state and action choice</a:t>
                </a:r>
              </a:p>
              <a:p>
                <a:pPr marL="891540" lvl="1" indent="-342900">
                  <a:buFont typeface="Arial" panose="020B0604020202020204" pitchFamily="34" charset="0"/>
                  <a:buChar char="•"/>
                </a:pPr>
                <a14:m>
                  <m:oMath xmlns:m="http://schemas.openxmlformats.org/officeDocument/2006/math">
                    <m:r>
                      <a:rPr lang="en-US" sz="1800" i="1">
                        <a:latin typeface="Cambria Math" panose="02040503050406030204" pitchFamily="18" charset="0"/>
                      </a:rPr>
                      <m:t>𝑝</m:t>
                    </m:r>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e>
                      <m:e>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e>
                    </m:d>
                    <m:r>
                      <a:rPr lang="en-US" sz="1800" i="1">
                        <a:latin typeface="Cambria Math" panose="02040503050406030204" pitchFamily="18" charset="0"/>
                      </a:rPr>
                      <m:t>=</m:t>
                    </m:r>
                    <m:nary>
                      <m:naryPr>
                        <m:chr m:val="∑"/>
                        <m:supHide m:val="on"/>
                        <m:ctrlPr>
                          <a:rPr lang="en-US" sz="1800" i="1">
                            <a:latin typeface="Cambria Math" panose="02040503050406030204" pitchFamily="18" charset="0"/>
                          </a:rPr>
                        </m:ctrlPr>
                      </m:naryPr>
                      <m:sub>
                        <m:r>
                          <m:rPr>
                            <m:brk m:alnAt="7"/>
                          </m:rPr>
                          <a:rPr lang="en-US" sz="1800" i="1">
                            <a:latin typeface="Cambria Math" panose="02040503050406030204" pitchFamily="18" charset="0"/>
                          </a:rPr>
                          <m:t>𝑟</m:t>
                        </m:r>
                        <m:r>
                          <a:rPr lang="en-US" sz="1800" i="1">
                            <a:latin typeface="Cambria Math" panose="02040503050406030204" pitchFamily="18" charset="0"/>
                            <a:ea typeface="Cambria Math" panose="02040503050406030204" pitchFamily="18" charset="0"/>
                          </a:rPr>
                          <m:t>𝜖</m:t>
                        </m:r>
                        <m:r>
                          <a:rPr lang="en-US" sz="1800" i="1">
                            <a:latin typeface="Cambria Math" panose="02040503050406030204" pitchFamily="18" charset="0"/>
                            <a:ea typeface="Cambria Math" panose="02040503050406030204" pitchFamily="18" charset="0"/>
                          </a:rPr>
                          <m:t>𝑅</m:t>
                        </m:r>
                      </m:sub>
                      <m:sup/>
                      <m:e>
                        <m:r>
                          <a:rPr lang="en-US" sz="1800" i="1">
                            <a:latin typeface="Cambria Math" panose="02040503050406030204" pitchFamily="18" charset="0"/>
                          </a:rPr>
                          <m:t>𝑝</m:t>
                        </m:r>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𝑟</m:t>
                            </m:r>
                          </m:e>
                          <m:e>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e>
                        </m:d>
                      </m:e>
                    </m:nary>
                  </m:oMath>
                </a14:m>
                <a:r>
                  <a:rPr lang="en-US" sz="1800"/>
                  <a:t> - the probability of next state </a:t>
                </a:r>
                <a14:m>
                  <m:oMath xmlns:m="http://schemas.openxmlformats.org/officeDocument/2006/math">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oMath>
                </a14:m>
                <a:r>
                  <a:rPr lang="en-US" sz="1800"/>
                  <a:t> given our current state and action choice</a:t>
                </a:r>
              </a:p>
              <a:p>
                <a:pPr marL="891540" lvl="1" indent="-342900">
                  <a:buFont typeface="Arial" panose="020B0604020202020204" pitchFamily="34" charset="0"/>
                  <a:buChar char="•"/>
                </a:pPr>
                <a:r>
                  <a:rPr lang="en-US" sz="1800"/>
                  <a:t> </a:t>
                </a:r>
                <a14:m>
                  <m:oMath xmlns:m="http://schemas.openxmlformats.org/officeDocument/2006/math">
                    <m:r>
                      <a:rPr lang="en-US" sz="1800" i="1">
                        <a:latin typeface="Cambria Math" panose="02040503050406030204" pitchFamily="18" charset="0"/>
                      </a:rPr>
                      <m:t>𝑟</m:t>
                    </m:r>
                    <m:d>
                      <m:dPr>
                        <m:ctrlPr>
                          <a:rPr lang="en-US" sz="1800" i="1">
                            <a:latin typeface="Cambria Math" panose="02040503050406030204" pitchFamily="18" charset="0"/>
                          </a:rPr>
                        </m:ctrlPr>
                      </m:dPr>
                      <m:e>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e>
                    </m:d>
                    <m:r>
                      <a:rPr lang="en-US" sz="1800" i="1">
                        <a:latin typeface="Cambria Math" panose="02040503050406030204" pitchFamily="18" charset="0"/>
                      </a:rPr>
                      <m:t>=</m:t>
                    </m:r>
                    <m:r>
                      <a:rPr lang="en-US" sz="1800" i="1">
                        <a:latin typeface="Cambria Math" panose="02040503050406030204" pitchFamily="18" charset="0"/>
                      </a:rPr>
                      <m:t>𝐸</m:t>
                    </m:r>
                    <m:d>
                      <m:dPr>
                        <m:begChr m:val="["/>
                        <m:endChr m:val="]"/>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𝑡</m:t>
                            </m:r>
                            <m:r>
                              <a:rPr lang="en-US" sz="1800" i="1">
                                <a:latin typeface="Cambria Math" panose="02040503050406030204" pitchFamily="18" charset="0"/>
                              </a:rPr>
                              <m:t>+1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i="1">
                                <a:latin typeface="Cambria Math" panose="02040503050406030204" pitchFamily="18" charset="0"/>
                              </a:rPr>
                              <m:t>𝑡</m:t>
                            </m:r>
                          </m:sub>
                        </m:sSub>
                        <m:r>
                          <a:rPr lang="en-US" sz="1800" i="1">
                            <a:latin typeface="Cambria Math" panose="02040503050406030204" pitchFamily="18" charset="0"/>
                          </a:rPr>
                          <m:t>=</m:t>
                        </m:r>
                        <m:r>
                          <a:rPr lang="en-US" sz="1800" i="1">
                            <a:latin typeface="Cambria Math" panose="02040503050406030204" pitchFamily="18" charset="0"/>
                          </a:rPr>
                          <m:t>𝑎</m:t>
                        </m:r>
                      </m:e>
                    </m:d>
                    <m:r>
                      <a:rPr lang="en-US" sz="1800" i="1">
                        <a:latin typeface="Cambria Math" panose="02040503050406030204" pitchFamily="18" charset="0"/>
                      </a:rPr>
                      <m:t>=</m:t>
                    </m:r>
                    <m:nary>
                      <m:naryPr>
                        <m:chr m:val="∑"/>
                        <m:supHide m:val="on"/>
                        <m:ctrlPr>
                          <a:rPr lang="en-US" sz="1800" i="1">
                            <a:latin typeface="Cambria Math" panose="02040503050406030204" pitchFamily="18" charset="0"/>
                          </a:rPr>
                        </m:ctrlPr>
                      </m:naryPr>
                      <m:sub>
                        <m:r>
                          <m:rPr>
                            <m:brk m:alnAt="7"/>
                          </m:rPr>
                          <a:rPr lang="en-US" sz="1800" i="1">
                            <a:latin typeface="Cambria Math" panose="02040503050406030204" pitchFamily="18" charset="0"/>
                          </a:rPr>
                          <m:t>𝑟</m:t>
                        </m:r>
                        <m:r>
                          <a:rPr lang="en-US" sz="1800" i="1">
                            <a:latin typeface="Cambria Math" panose="02040503050406030204" pitchFamily="18" charset="0"/>
                            <a:ea typeface="Cambria Math" panose="02040503050406030204" pitchFamily="18" charset="0"/>
                          </a:rPr>
                          <m:t>𝜖</m:t>
                        </m:r>
                        <m:r>
                          <a:rPr lang="en-US" sz="1800" i="1">
                            <a:latin typeface="Cambria Math" panose="02040503050406030204" pitchFamily="18" charset="0"/>
                            <a:ea typeface="Cambria Math" panose="02040503050406030204" pitchFamily="18" charset="0"/>
                          </a:rPr>
                          <m:t>𝑅</m:t>
                        </m:r>
                      </m:sub>
                      <m:sup/>
                      <m:e>
                        <m:r>
                          <a:rPr lang="en-US" sz="1800" i="1">
                            <a:latin typeface="Cambria Math" panose="02040503050406030204" pitchFamily="18" charset="0"/>
                          </a:rPr>
                          <m:t>𝑟</m:t>
                        </m:r>
                      </m:e>
                    </m:nary>
                    <m:nary>
                      <m:naryPr>
                        <m:chr m:val="∑"/>
                        <m:supHide m:val="on"/>
                        <m:ctrlPr>
                          <a:rPr lang="en-US" sz="1800" i="1">
                            <a:latin typeface="Cambria Math" panose="02040503050406030204" pitchFamily="18" charset="0"/>
                          </a:rPr>
                        </m:ctrlPr>
                      </m:naryPr>
                      <m:sub>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m:rPr>
                            <m:brk m:alnAt="7"/>
                          </m:rPr>
                          <a:rPr lang="en-US" sz="1800" i="1">
                            <a:latin typeface="Cambria Math" panose="02040503050406030204" pitchFamily="18" charset="0"/>
                            <a:ea typeface="Cambria Math" panose="02040503050406030204" pitchFamily="18" charset="0"/>
                          </a:rPr>
                          <m:t>𝜖</m:t>
                        </m:r>
                        <m:r>
                          <a:rPr lang="en-US" sz="1800" i="1">
                            <a:latin typeface="Cambria Math" panose="02040503050406030204" pitchFamily="18" charset="0"/>
                            <a:ea typeface="Cambria Math" panose="02040503050406030204" pitchFamily="18" charset="0"/>
                          </a:rPr>
                          <m:t>𝑆</m:t>
                        </m:r>
                      </m:sub>
                      <m:sup/>
                      <m:e>
                        <m:r>
                          <a:rPr lang="en-US" sz="1800" i="1">
                            <a:latin typeface="Cambria Math" panose="02040503050406030204" pitchFamily="18" charset="0"/>
                          </a:rPr>
                          <m:t>𝑝</m:t>
                        </m:r>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𝑟</m:t>
                            </m:r>
                          </m:e>
                          <m:e>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e>
                        </m:d>
                      </m:e>
                    </m:nary>
                  </m:oMath>
                </a14:m>
                <a:r>
                  <a:rPr lang="en-US" sz="1800"/>
                  <a:t> - the reward given action a &amp; state s</a:t>
                </a:r>
              </a:p>
              <a:p>
                <a:r>
                  <a:rPr lang="en-US" sz="1800" i="1"/>
                  <a:t>Transition graph is a visual representation – filled in circles are actions, open circles states</a:t>
                </a:r>
              </a:p>
            </p:txBody>
          </p:sp>
        </mc:Choice>
        <mc:Fallback xmlns="">
          <p:sp>
            <p:nvSpPr>
              <p:cNvPr id="5" name="Rounded Rectangle 4"/>
              <p:cNvSpPr>
                <a:spLocks noRot="1" noChangeAspect="1" noMove="1" noResize="1" noEditPoints="1" noAdjustHandles="1" noChangeArrowheads="1" noChangeShapeType="1" noTextEdit="1"/>
              </p:cNvSpPr>
              <p:nvPr/>
            </p:nvSpPr>
            <p:spPr>
              <a:xfrm>
                <a:off x="1" y="1828801"/>
                <a:ext cx="5140411" cy="4349578"/>
              </a:xfrm>
              <a:prstGeom prst="round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Rounded Rectangle 5"/>
              <p:cNvSpPr/>
              <p:nvPr/>
            </p:nvSpPr>
            <p:spPr>
              <a:xfrm>
                <a:off x="1" y="6245263"/>
                <a:ext cx="5226908" cy="3212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800" i="1"/>
                  <a:t>Discount rate </a:t>
                </a:r>
                <a14:m>
                  <m:oMath xmlns:m="http://schemas.openxmlformats.org/officeDocument/2006/math">
                    <m:r>
                      <a:rPr lang="en-US" sz="1800" i="1">
                        <a:latin typeface="Cambria Math" panose="02040503050406030204" pitchFamily="18" charset="0"/>
                        <a:ea typeface="Cambria Math" panose="02040503050406030204" pitchFamily="18" charset="0"/>
                      </a:rPr>
                      <m:t>𝛾</m:t>
                    </m:r>
                  </m:oMath>
                </a14:m>
                <a:r>
                  <a:rPr lang="en-US" sz="1800" i="1"/>
                  <a:t>: </a:t>
                </a:r>
                <a:r>
                  <a:rPr lang="en-US" sz="1800"/>
                  <a:t>low = shortsighted; high = farsighted </a:t>
                </a:r>
              </a:p>
            </p:txBody>
          </p:sp>
        </mc:Choice>
        <mc:Fallback>
          <p:sp>
            <p:nvSpPr>
              <p:cNvPr id="6" name="Rounded Rectangle 5"/>
              <p:cNvSpPr>
                <a:spLocks noRot="1" noChangeAspect="1" noMove="1" noResize="1" noEditPoints="1" noAdjustHandles="1" noChangeArrowheads="1" noChangeShapeType="1" noTextEdit="1"/>
              </p:cNvSpPr>
              <p:nvPr/>
            </p:nvSpPr>
            <p:spPr>
              <a:xfrm>
                <a:off x="1" y="6245263"/>
                <a:ext cx="5226908" cy="321276"/>
              </a:xfrm>
              <a:prstGeom prst="roundRect">
                <a:avLst/>
              </a:prstGeom>
              <a:blipFill>
                <a:blip r:embed="rId4"/>
                <a:stretch>
                  <a:fillRect t="-14545" r="-349" b="-345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ounded Rectangle 7"/>
              <p:cNvSpPr/>
              <p:nvPr/>
            </p:nvSpPr>
            <p:spPr>
              <a:xfrm>
                <a:off x="5226908" y="1941431"/>
                <a:ext cx="9873421" cy="20076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The Bellman Equations (value function &amp; action value function:</a:t>
                </a:r>
              </a:p>
              <a:p>
                <a14:m>
                  <m:oMath xmlns:m="http://schemas.openxmlformats.org/officeDocument/2006/math">
                    <m:r>
                      <a:rPr lang="en-US" sz="1800" i="1">
                        <a:latin typeface="Cambria Math" panose="02040503050406030204" pitchFamily="18" charset="0"/>
                      </a:rPr>
                      <m:t>𝑣</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i="1">
                        <a:latin typeface="Cambria Math" panose="02040503050406030204" pitchFamily="18" charset="0"/>
                      </a:rPr>
                      <m:t>=</m:t>
                    </m:r>
                    <m:r>
                      <a:rPr lang="en-US" sz="1800" i="1">
                        <a:latin typeface="Cambria Math" panose="02040503050406030204" pitchFamily="18" charset="0"/>
                      </a:rPr>
                      <m:t>𝐸</m:t>
                    </m:r>
                    <m:d>
                      <m:dPr>
                        <m:begChr m:val="["/>
                        <m:endChr m:val="]"/>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𝐺</m:t>
                            </m:r>
                          </m:e>
                          <m:sub>
                            <m:r>
                              <a:rPr lang="en-US" sz="1800" i="1">
                                <a:latin typeface="Cambria Math" panose="02040503050406030204" pitchFamily="18" charset="0"/>
                              </a:rPr>
                              <m:t>𝑡</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r>
                          <a:rPr lang="en-US" sz="1800" i="1">
                            <a:latin typeface="Cambria Math" panose="02040503050406030204" pitchFamily="18" charset="0"/>
                          </a:rPr>
                          <m:t>=</m:t>
                        </m:r>
                        <m:r>
                          <a:rPr lang="en-US" sz="1800" i="1">
                            <a:latin typeface="Cambria Math" panose="02040503050406030204" pitchFamily="18" charset="0"/>
                          </a:rPr>
                          <m:t>𝑠</m:t>
                        </m:r>
                      </m:e>
                    </m:d>
                    <m:r>
                      <a:rPr lang="en-US" sz="1800" i="1">
                        <a:latin typeface="Cambria Math" panose="02040503050406030204" pitchFamily="18" charset="0"/>
                      </a:rPr>
                      <m:t>=</m:t>
                    </m:r>
                    <m:r>
                      <a:rPr lang="en-US" sz="1800" i="1">
                        <a:latin typeface="Cambria Math" panose="02040503050406030204" pitchFamily="18" charset="0"/>
                      </a:rPr>
                      <m:t>𝐸</m:t>
                    </m:r>
                    <m:d>
                      <m:dPr>
                        <m:begChr m:val="["/>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𝛾</m:t>
                        </m:r>
                        <m:sSub>
                          <m:sSubPr>
                            <m:ctrlPr>
                              <a:rPr lang="en-US" sz="1800" i="1">
                                <a:latin typeface="Cambria Math" panose="02040503050406030204" pitchFamily="18" charset="0"/>
                              </a:rPr>
                            </m:ctrlPr>
                          </m:sSubPr>
                          <m:e>
                            <m:r>
                              <a:rPr lang="en-US" sz="1800" i="1">
                                <a:latin typeface="Cambria Math" panose="02040503050406030204" pitchFamily="18" charset="0"/>
                              </a:rPr>
                              <m:t>𝑣</m:t>
                            </m:r>
                            <m:r>
                              <a:rPr lang="en-US" sz="1800" i="1">
                                <a:latin typeface="Cambria Math" panose="02040503050406030204" pitchFamily="18" charset="0"/>
                              </a:rPr>
                              <m:t>(</m:t>
                            </m:r>
                            <m:r>
                              <a:rPr lang="en-US" sz="1800" i="1">
                                <a:latin typeface="Cambria Math" panose="02040503050406030204" pitchFamily="18" charset="0"/>
                              </a:rPr>
                              <m:t>𝑆</m:t>
                            </m:r>
                          </m:e>
                          <m:sub>
                            <m:r>
                              <a:rPr lang="en-US" sz="1800" i="1">
                                <a:latin typeface="Cambria Math" panose="02040503050406030204" pitchFamily="18" charset="0"/>
                              </a:rPr>
                              <m:t>𝑡</m:t>
                            </m:r>
                            <m:r>
                              <a:rPr lang="en-US" sz="1800" i="1">
                                <a:latin typeface="Cambria Math" panose="02040503050406030204" pitchFamily="18" charset="0"/>
                              </a:rPr>
                              <m:t>+1</m:t>
                            </m:r>
                          </m:sub>
                        </m:sSub>
                      </m:e>
                    </m:d>
                    <m:d>
                      <m:dPr>
                        <m:begChr m:val="|"/>
                        <m:endChr m:val="]"/>
                        <m:ctrlPr>
                          <a:rPr lang="en-US" sz="1800" i="1">
                            <a:latin typeface="Cambria Math" panose="02040503050406030204" pitchFamily="18" charset="0"/>
                          </a:rPr>
                        </m:ctrlPr>
                      </m:dPr>
                      <m:e>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r>
                          <a:rPr lang="en-US" sz="1800" i="1">
                            <a:latin typeface="Cambria Math" panose="02040503050406030204" pitchFamily="18" charset="0"/>
                          </a:rPr>
                          <m:t>=</m:t>
                        </m:r>
                        <m:r>
                          <a:rPr lang="en-US" sz="1800" i="1">
                            <a:latin typeface="Cambria Math" panose="02040503050406030204" pitchFamily="18" charset="0"/>
                          </a:rPr>
                          <m:t>𝑠</m:t>
                        </m:r>
                      </m:e>
                    </m:d>
                    <m:r>
                      <a:rPr lang="en-US" sz="1800" i="1">
                        <a:latin typeface="Cambria Math" panose="02040503050406030204" pitchFamily="18" charset="0"/>
                      </a:rPr>
                      <m:t>=</m:t>
                    </m:r>
                    <m:nary>
                      <m:naryPr>
                        <m:chr m:val="∑"/>
                        <m:supHide m:val="on"/>
                        <m:ctrlPr>
                          <a:rPr lang="en-US" sz="1800" i="1">
                            <a:latin typeface="Cambria Math" panose="02040503050406030204" pitchFamily="18" charset="0"/>
                          </a:rPr>
                        </m:ctrlPr>
                      </m:naryPr>
                      <m:sub>
                        <m:r>
                          <m:rPr>
                            <m:brk m:alnAt="7"/>
                          </m:rPr>
                          <a:rPr lang="en-US" sz="1800" i="1">
                            <a:latin typeface="Cambria Math" panose="02040503050406030204" pitchFamily="18" charset="0"/>
                          </a:rPr>
                          <m:t>𝑎</m:t>
                        </m:r>
                      </m:sub>
                      <m:sup/>
                      <m:e>
                        <m:r>
                          <a:rPr lang="en-US" sz="1800" i="1">
                            <a:latin typeface="Cambria Math" panose="02040503050406030204" pitchFamily="18" charset="0"/>
                            <a:ea typeface="Cambria Math" panose="02040503050406030204" pitchFamily="18" charset="0"/>
                          </a:rPr>
                          <m:t>𝜋</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𝑎</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𝑠</m:t>
                        </m:r>
                        <m:r>
                          <a:rPr lang="en-US" sz="1800" i="1">
                            <a:latin typeface="Cambria Math" panose="02040503050406030204" pitchFamily="18" charset="0"/>
                            <a:ea typeface="Cambria Math" panose="02040503050406030204" pitchFamily="18" charset="0"/>
                          </a:rPr>
                          <m:t>)</m:t>
                        </m:r>
                        <m:nary>
                          <m:naryPr>
                            <m:chr m:val="∑"/>
                            <m:supHide m:val="on"/>
                            <m:ctrlPr>
                              <a:rPr lang="en-US" sz="1800" i="1">
                                <a:latin typeface="Cambria Math" panose="02040503050406030204" pitchFamily="18" charset="0"/>
                              </a:rPr>
                            </m:ctrlPr>
                          </m:naryPr>
                          <m:sub>
                            <m:sSup>
                              <m:sSupPr>
                                <m:ctrlPr>
                                  <a:rPr lang="en-US" sz="1800" i="1">
                                    <a:latin typeface="Cambria Math" panose="02040503050406030204" pitchFamily="18" charset="0"/>
                                  </a:rPr>
                                </m:ctrlPr>
                              </m:sSupPr>
                              <m:e>
                                <m:r>
                                  <a:rPr lang="en-US" sz="1800" i="1">
                                    <a:latin typeface="Cambria Math" panose="02040503050406030204" pitchFamily="18" charset="0"/>
                                  </a:rPr>
                                  <m:t>𝑆</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𝑟</m:t>
                            </m:r>
                          </m:sub>
                          <m:sup/>
                          <m:e>
                            <m:r>
                              <a:rPr lang="en-US" sz="1800" i="1">
                                <a:latin typeface="Cambria Math" panose="02040503050406030204" pitchFamily="18" charset="0"/>
                              </a:rPr>
                              <m:t>𝑝</m:t>
                            </m:r>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𝑆</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𝑟</m:t>
                                </m:r>
                              </m:e>
                              <m:e>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e>
                            </m:d>
                          </m:e>
                        </m:nary>
                      </m:e>
                    </m:nary>
                    <m:r>
                      <a:rPr lang="en-US" sz="1800" i="1">
                        <a:latin typeface="Cambria Math" panose="02040503050406030204" pitchFamily="18" charset="0"/>
                      </a:rPr>
                      <m:t>[</m:t>
                    </m:r>
                    <m:r>
                      <a:rPr lang="en-US" sz="1800" i="1">
                        <a:latin typeface="Cambria Math" panose="02040503050406030204" pitchFamily="18" charset="0"/>
                      </a:rPr>
                      <m:t>𝑟</m:t>
                    </m:r>
                    <m:r>
                      <a:rPr lang="en-US" sz="1800" i="1">
                        <a:latin typeface="Cambria Math" panose="02040503050406030204" pitchFamily="18" charset="0"/>
                      </a:rPr>
                      <m:t>+ </m:t>
                    </m:r>
                    <m:r>
                      <a:rPr lang="en-US" sz="1800" i="1">
                        <a:latin typeface="Cambria Math" panose="02040503050406030204" pitchFamily="18" charset="0"/>
                        <a:ea typeface="Cambria Math" panose="02040503050406030204" pitchFamily="18" charset="0"/>
                      </a:rPr>
                      <m:t>𝛾</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𝑣</m:t>
                        </m:r>
                      </m:e>
                      <m:sub>
                        <m:r>
                          <a:rPr lang="en-US" sz="1800" i="1">
                            <a:latin typeface="Cambria Math" panose="02040503050406030204" pitchFamily="18" charset="0"/>
                            <a:ea typeface="Cambria Math" panose="02040503050406030204" pitchFamily="18" charset="0"/>
                          </a:rPr>
                          <m:t>𝜋</m:t>
                        </m:r>
                      </m:sub>
                    </m:sSub>
                    <m:r>
                      <a:rPr lang="en-US" sz="1800" i="1">
                        <a:latin typeface="Cambria Math" panose="02040503050406030204" pitchFamily="18" charset="0"/>
                        <a:ea typeface="Cambria Math" panose="02040503050406030204" pitchFamily="18" charset="0"/>
                      </a:rPr>
                      <m:t>(</m:t>
                    </m:r>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𝑆</m:t>
                        </m:r>
                      </m:e>
                      <m:sup>
                        <m:r>
                          <a:rPr lang="en-US" sz="1800" i="1">
                            <a:latin typeface="Cambria Math" panose="02040503050406030204" pitchFamily="18" charset="0"/>
                            <a:ea typeface="Cambria Math" panose="02040503050406030204" pitchFamily="18" charset="0"/>
                          </a:rPr>
                          <m:t>′</m:t>
                        </m:r>
                      </m:sup>
                    </m:sSup>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rPr>
                      <m:t>]</m:t>
                    </m:r>
                  </m:oMath>
                </a14:m>
                <a:r>
                  <a:rPr lang="en-US" sz="1800"/>
                  <a:t> </a:t>
                </a:r>
              </a:p>
              <a:p>
                <a:pPr/>
                <a14:m>
                  <m:oMathPara xmlns:m="http://schemas.openxmlformats.org/officeDocument/2006/math">
                    <m:oMathParaPr>
                      <m:jc m:val="left"/>
                    </m:oMathParaPr>
                    <m:oMath xmlns:m="http://schemas.openxmlformats.org/officeDocument/2006/math">
                      <m:r>
                        <m:rPr>
                          <m:sty m:val="p"/>
                        </m:rPr>
                        <a:rPr lang="en-US" sz="1800">
                          <a:latin typeface="Cambria Math" panose="02040503050406030204" pitchFamily="18" charset="0"/>
                        </a:rPr>
                        <m:t>q</m:t>
                      </m:r>
                      <m:d>
                        <m:dPr>
                          <m:ctrlPr>
                            <a:rPr lang="en-US" sz="1800" i="1">
                              <a:latin typeface="Cambria Math" panose="02040503050406030204" pitchFamily="18" charset="0"/>
                            </a:rPr>
                          </m:ctrlPr>
                        </m:dPr>
                        <m:e>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e>
                      </m:d>
                      <m:r>
                        <a:rPr lang="en-US" sz="1800" i="1">
                          <a:latin typeface="Cambria Math" panose="02040503050406030204" pitchFamily="18" charset="0"/>
                        </a:rPr>
                        <m:t>=</m:t>
                      </m:r>
                      <m:r>
                        <a:rPr lang="en-US" sz="1800" i="1">
                          <a:latin typeface="Cambria Math" panose="02040503050406030204" pitchFamily="18" charset="0"/>
                        </a:rPr>
                        <m:t>𝐸</m:t>
                      </m:r>
                      <m:d>
                        <m:dPr>
                          <m:begChr m:val="["/>
                          <m:endChr m:val="]"/>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𝐺</m:t>
                              </m:r>
                            </m:e>
                            <m:sub>
                              <m:r>
                                <a:rPr lang="en-US" sz="1800" i="1">
                                  <a:latin typeface="Cambria Math" panose="02040503050406030204" pitchFamily="18" charset="0"/>
                                </a:rPr>
                                <m:t>𝑡</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i="1">
                                  <a:latin typeface="Cambria Math" panose="02040503050406030204" pitchFamily="18" charset="0"/>
                                </a:rPr>
                                <m:t>𝑡</m:t>
                              </m:r>
                            </m:sub>
                          </m:sSub>
                          <m:r>
                            <a:rPr lang="en-US" sz="1800" i="1">
                              <a:latin typeface="Cambria Math" panose="02040503050406030204" pitchFamily="18" charset="0"/>
                            </a:rPr>
                            <m:t>=</m:t>
                          </m:r>
                          <m:r>
                            <a:rPr lang="en-US" sz="1800" i="1">
                              <a:latin typeface="Cambria Math" panose="02040503050406030204" pitchFamily="18" charset="0"/>
                            </a:rPr>
                            <m:t>𝑎</m:t>
                          </m:r>
                        </m:e>
                      </m:d>
                      <m:r>
                        <a:rPr lang="en-US" sz="1800" b="0" i="1" smtClean="0">
                          <a:latin typeface="Cambria Math" panose="02040503050406030204" pitchFamily="18" charset="0"/>
                          <a:ea typeface="Cambria Math" panose="02040503050406030204" pitchFamily="18" charset="0"/>
                        </a:rPr>
                        <m:t>=</m:t>
                      </m:r>
                      <m:nary>
                        <m:naryPr>
                          <m:chr m:val="∑"/>
                          <m:supHide m:val="on"/>
                          <m:ctrlPr>
                            <a:rPr lang="en-US" sz="1800" i="1">
                              <a:latin typeface="Cambria Math" panose="02040503050406030204" pitchFamily="18" charset="0"/>
                            </a:rPr>
                          </m:ctrlPr>
                        </m:naryPr>
                        <m:sub>
                          <m:sSup>
                            <m:sSupPr>
                              <m:ctrlPr>
                                <a:rPr lang="en-US" sz="1800" i="1">
                                  <a:latin typeface="Cambria Math" panose="02040503050406030204" pitchFamily="18" charset="0"/>
                                </a:rPr>
                              </m:ctrlPr>
                            </m:sSupPr>
                            <m:e>
                              <m:r>
                                <a:rPr lang="en-US" sz="1800" i="1">
                                  <a:latin typeface="Cambria Math" panose="02040503050406030204" pitchFamily="18" charset="0"/>
                                </a:rPr>
                                <m:t>𝑆</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𝑟</m:t>
                          </m:r>
                        </m:sub>
                        <m:sup/>
                        <m:e>
                          <m:r>
                            <a:rPr lang="en-US" sz="1800" i="1">
                              <a:latin typeface="Cambria Math" panose="02040503050406030204" pitchFamily="18" charset="0"/>
                            </a:rPr>
                            <m:t>𝑝</m:t>
                          </m:r>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𝑆</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𝑟</m:t>
                              </m:r>
                            </m:e>
                            <m:e>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e>
                          </m:d>
                        </m:e>
                      </m:nary>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𝑟</m:t>
                          </m:r>
                          <m:r>
                            <a:rPr lang="en-US" sz="1800" i="1">
                              <a:latin typeface="Cambria Math" panose="02040503050406030204" pitchFamily="18" charset="0"/>
                            </a:rPr>
                            <m:t>+ </m:t>
                          </m:r>
                          <m:r>
                            <a:rPr lang="en-US" sz="1800" i="1">
                              <a:latin typeface="Cambria Math" panose="02040503050406030204" pitchFamily="18" charset="0"/>
                              <a:ea typeface="Cambria Math" panose="02040503050406030204" pitchFamily="18" charset="0"/>
                            </a:rPr>
                            <m:t>𝛾</m:t>
                          </m:r>
                          <m:nary>
                            <m:naryPr>
                              <m:chr m:val="∑"/>
                              <m:supHide m:val="on"/>
                              <m:ctrlPr>
                                <a:rPr lang="en-US" sz="1800" i="1" smtClean="0">
                                  <a:latin typeface="Cambria Math" panose="02040503050406030204" pitchFamily="18" charset="0"/>
                                  <a:ea typeface="Cambria Math" panose="02040503050406030204" pitchFamily="18" charset="0"/>
                                </a:rPr>
                              </m:ctrlPr>
                            </m:naryPr>
                            <m:sub>
                              <m:sSup>
                                <m:sSupPr>
                                  <m:ctrlPr>
                                    <a:rPr lang="en-US" sz="180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𝑎</m:t>
                                  </m:r>
                                </m:e>
                                <m:sup>
                                  <m:r>
                                    <a:rPr lang="en-US" sz="1800" b="0" i="1" smtClean="0">
                                      <a:latin typeface="Cambria Math" panose="02040503050406030204" pitchFamily="18" charset="0"/>
                                      <a:ea typeface="Cambria Math" panose="02040503050406030204" pitchFamily="18" charset="0"/>
                                    </a:rPr>
                                    <m:t>′</m:t>
                                  </m:r>
                                </m:sup>
                              </m:sSup>
                            </m:sub>
                            <m:sup/>
                            <m:e>
                              <m:r>
                                <a:rPr lang="en-US" sz="1800" i="1">
                                  <a:latin typeface="Cambria Math" panose="02040503050406030204" pitchFamily="18" charset="0"/>
                                  <a:ea typeface="Cambria Math" panose="02040503050406030204" pitchFamily="18" charset="0"/>
                                </a:rPr>
                                <m:t>𝜋</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𝑎</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𝑠</m:t>
                              </m:r>
                              <m:r>
                                <a:rPr lang="en-US" sz="1800" i="1">
                                  <a:latin typeface="Cambria Math" panose="02040503050406030204" pitchFamily="18" charset="0"/>
                                  <a:ea typeface="Cambria Math" panose="02040503050406030204" pitchFamily="18" charset="0"/>
                                </a:rPr>
                                <m:t>)</m:t>
                              </m:r>
                            </m:e>
                          </m:nary>
                          <m:sSub>
                            <m:sSubPr>
                              <m:ctrlPr>
                                <a:rPr lang="en-US" sz="1800" i="1">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𝑞</m:t>
                              </m:r>
                            </m:e>
                            <m:sub>
                              <m:r>
                                <a:rPr lang="en-US" sz="1800" i="1">
                                  <a:latin typeface="Cambria Math" panose="02040503050406030204" pitchFamily="18" charset="0"/>
                                  <a:ea typeface="Cambria Math" panose="02040503050406030204" pitchFamily="18" charset="0"/>
                                </a:rPr>
                                <m:t>𝜋</m:t>
                              </m:r>
                            </m:sub>
                          </m:sSub>
                          <m:d>
                            <m:dPr>
                              <m:ctrlPr>
                                <a:rPr lang="en-US" sz="1800" i="1">
                                  <a:latin typeface="Cambria Math" panose="02040503050406030204" pitchFamily="18" charset="0"/>
                                  <a:ea typeface="Cambria Math" panose="02040503050406030204" pitchFamily="18" charset="0"/>
                                </a:rPr>
                              </m:ctrlPr>
                            </m:dPr>
                            <m:e>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𝑆</m:t>
                                  </m:r>
                                </m:e>
                                <m:sup>
                                  <m:r>
                                    <a:rPr lang="en-US" sz="1800" i="1">
                                      <a:latin typeface="Cambria Math" panose="02040503050406030204" pitchFamily="18" charset="0"/>
                                      <a:ea typeface="Cambria Math" panose="02040503050406030204" pitchFamily="18" charset="0"/>
                                    </a:rPr>
                                    <m:t>′</m:t>
                                  </m:r>
                                </m:sup>
                              </m:sSup>
                              <m:r>
                                <a:rPr lang="en-US" sz="1800" b="0" i="1" smtClean="0">
                                  <a:latin typeface="Cambria Math" panose="02040503050406030204" pitchFamily="18" charset="0"/>
                                  <a:ea typeface="Cambria Math" panose="02040503050406030204" pitchFamily="18" charset="0"/>
                                </a:rPr>
                                <m:t>,</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𝑎</m:t>
                                  </m:r>
                                </m:e>
                                <m:sup>
                                  <m:r>
                                    <a:rPr lang="en-US" sz="1800" b="0" i="1" smtClean="0">
                                      <a:latin typeface="Cambria Math" panose="02040503050406030204" pitchFamily="18" charset="0"/>
                                      <a:ea typeface="Cambria Math" panose="02040503050406030204" pitchFamily="18" charset="0"/>
                                    </a:rPr>
                                    <m:t>′</m:t>
                                  </m:r>
                                </m:sup>
                              </m:sSup>
                            </m:e>
                          </m:d>
                        </m:e>
                      </m:d>
                    </m:oMath>
                  </m:oMathPara>
                </a14:m>
                <a:endParaRPr lang="en-US" sz="1800" i="1"/>
              </a:p>
              <a:p>
                <a:r>
                  <a:rPr lang="en-US" sz="1800" i="1"/>
                  <a:t>To be able to solve the Bellman equations we need (1) knowledge of env. dynamics (2) computational resources (3) the Markov property</a:t>
                </a:r>
              </a:p>
            </p:txBody>
          </p:sp>
        </mc:Choice>
        <mc:Fallback>
          <p:sp>
            <p:nvSpPr>
              <p:cNvPr id="8" name="Rounded Rectangle 7"/>
              <p:cNvSpPr>
                <a:spLocks noRot="1" noChangeAspect="1" noMove="1" noResize="1" noEditPoints="1" noAdjustHandles="1" noChangeArrowheads="1" noChangeShapeType="1" noTextEdit="1"/>
              </p:cNvSpPr>
              <p:nvPr/>
            </p:nvSpPr>
            <p:spPr>
              <a:xfrm>
                <a:off x="5226908" y="1941431"/>
                <a:ext cx="9873421" cy="2007649"/>
              </a:xfrm>
              <a:prstGeom prst="roundRect">
                <a:avLst/>
              </a:prstGeom>
              <a:blipFill>
                <a:blip r:embed="rId5"/>
                <a:stretch>
                  <a:fillRect t="-9639" b="-6627"/>
                </a:stretch>
              </a:blipFill>
            </p:spPr>
            <p:txBody>
              <a:bodyPr/>
              <a:lstStyle/>
              <a:p>
                <a:r>
                  <a:rPr lang="en-US">
                    <a:noFill/>
                  </a:rPr>
                  <a:t> </a:t>
                </a:r>
              </a:p>
            </p:txBody>
          </p:sp>
        </mc:Fallback>
      </mc:AlternateContent>
      <p:sp>
        <p:nvSpPr>
          <p:cNvPr id="10" name="Rounded Rectangle 9"/>
          <p:cNvSpPr/>
          <p:nvPr/>
        </p:nvSpPr>
        <p:spPr>
          <a:xfrm>
            <a:off x="1" y="6617331"/>
            <a:ext cx="5938104" cy="3058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a:t>Bootstrapping: </a:t>
            </a:r>
            <a:r>
              <a:rPr lang="en-US" sz="1800"/>
              <a:t>updating estimates based on other </a:t>
            </a:r>
            <a:r>
              <a:rPr lang="en-US" sz="1800" smtClean="0"/>
              <a:t>estimates</a:t>
            </a:r>
            <a:endParaRPr lang="en-US" sz="1800" i="1"/>
          </a:p>
        </p:txBody>
      </p:sp>
      <p:sp>
        <p:nvSpPr>
          <p:cNvPr id="11" name="Rounded Rectangle 10"/>
          <p:cNvSpPr/>
          <p:nvPr/>
        </p:nvSpPr>
        <p:spPr>
          <a:xfrm>
            <a:off x="5799629" y="11981689"/>
            <a:ext cx="7747685" cy="6301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a:t>The deadly triad: </a:t>
            </a:r>
            <a:r>
              <a:rPr lang="en-US" sz="1800"/>
              <a:t>instability and divergence typically result from the combination of (1) function approximation (2) bootstrapping (3) off-policy training</a:t>
            </a:r>
          </a:p>
        </p:txBody>
      </p:sp>
      <p:sp>
        <p:nvSpPr>
          <p:cNvPr id="13" name="Rounded Rectangle 12"/>
          <p:cNvSpPr/>
          <p:nvPr/>
        </p:nvSpPr>
        <p:spPr>
          <a:xfrm>
            <a:off x="5226908" y="3987210"/>
            <a:ext cx="8893129" cy="288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i="1"/>
              <a:t>Policy evaluation</a:t>
            </a:r>
            <a:r>
              <a:rPr lang="en-US" sz="1600"/>
              <a:t>: compute the values of states under current policy (can do iteratively until convergence)</a:t>
            </a:r>
          </a:p>
        </p:txBody>
      </p:sp>
      <p:sp>
        <p:nvSpPr>
          <p:cNvPr id="15" name="Rounded Rectangle 14"/>
          <p:cNvSpPr/>
          <p:nvPr/>
        </p:nvSpPr>
        <p:spPr>
          <a:xfrm>
            <a:off x="5226908" y="4342324"/>
            <a:ext cx="6819780" cy="2846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i="1"/>
              <a:t>Policy improvement</a:t>
            </a:r>
            <a:r>
              <a:rPr lang="en-US" sz="1600"/>
              <a:t>: make policy greedy wrt state </a:t>
            </a:r>
            <a:r>
              <a:rPr lang="en-US" sz="1600" smtClean="0"/>
              <a:t>values </a:t>
            </a:r>
            <a:r>
              <a:rPr lang="en-US" sz="1600"/>
              <a:t>from policy evaluation</a:t>
            </a:r>
          </a:p>
        </p:txBody>
      </p:sp>
      <p:sp>
        <p:nvSpPr>
          <p:cNvPr id="16" name="Rounded Rectangle 15"/>
          <p:cNvSpPr/>
          <p:nvPr/>
        </p:nvSpPr>
        <p:spPr>
          <a:xfrm>
            <a:off x="5226908" y="4665085"/>
            <a:ext cx="10317892" cy="4445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i="1"/>
              <a:t>Generalized policy iteration</a:t>
            </a:r>
            <a:r>
              <a:rPr lang="en-US" sz="1600"/>
              <a:t>: the process of policy evaluation (assumes policy known) followed by policy improvement (assumes value of states known); when neither process results in changes to the other, the policy is optimal</a:t>
            </a:r>
          </a:p>
        </p:txBody>
      </p:sp>
      <p:sp>
        <p:nvSpPr>
          <p:cNvPr id="17" name="Rounded Rectangle 16"/>
          <p:cNvSpPr/>
          <p:nvPr/>
        </p:nvSpPr>
        <p:spPr>
          <a:xfrm>
            <a:off x="15838126" y="3236581"/>
            <a:ext cx="9873421" cy="10388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Without a model state values alone are not sufficient. One must explicitly estimate the value of each action in order for the values to be useful in suggesting a policy</a:t>
            </a:r>
            <a:endParaRPr lang="en-US" sz="1800" i="1"/>
          </a:p>
        </p:txBody>
      </p:sp>
      <p:sp>
        <p:nvSpPr>
          <p:cNvPr id="18" name="Rounded Rectangle 17"/>
          <p:cNvSpPr/>
          <p:nvPr/>
        </p:nvSpPr>
        <p:spPr>
          <a:xfrm>
            <a:off x="5066521" y="512212"/>
            <a:ext cx="9873421" cy="4092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Exploration vs. exploitation</a:t>
            </a:r>
            <a:endParaRPr lang="en-US" sz="1800" i="1"/>
          </a:p>
        </p:txBody>
      </p:sp>
      <p:sp>
        <p:nvSpPr>
          <p:cNvPr id="19" name="Rounded Rectangle 18"/>
          <p:cNvSpPr/>
          <p:nvPr/>
        </p:nvSpPr>
        <p:spPr>
          <a:xfrm>
            <a:off x="15838126" y="4337650"/>
            <a:ext cx="9873421" cy="8618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All learning control methods face a dilemma: they seek to learn action values conditional on subsequent optimal behavior, but they need to behave non-optimally in order to explore all actions (to find the optimal action). Enter: off-policy methods</a:t>
            </a:r>
            <a:endParaRPr lang="en-US" sz="1800" i="1"/>
          </a:p>
        </p:txBody>
      </p:sp>
      <mc:AlternateContent xmlns:mc="http://schemas.openxmlformats.org/markup-compatibility/2006">
        <mc:Choice xmlns:a14="http://schemas.microsoft.com/office/drawing/2010/main" Requires="a14">
          <p:sp>
            <p:nvSpPr>
              <p:cNvPr id="20" name="Rounded Rectangle 19"/>
              <p:cNvSpPr/>
              <p:nvPr/>
            </p:nvSpPr>
            <p:spPr>
              <a:xfrm>
                <a:off x="81696" y="7038294"/>
                <a:ext cx="4602649" cy="39939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i="1" smtClean="0"/>
                  <a:t>Importance sampling</a:t>
                </a:r>
                <a:r>
                  <a:rPr lang="en-US" sz="1600" i="1"/>
                  <a:t>: </a:t>
                </a:r>
                <a:r>
                  <a:rPr lang="en-US" sz="1600" smtClean="0"/>
                  <a:t>use in off-policy learning; weight </a:t>
                </a:r>
                <a:r>
                  <a:rPr lang="en-US" sz="1600"/>
                  <a:t>returns </a:t>
                </a:r>
                <a:r>
                  <a:rPr lang="en-US" sz="1600" smtClean="0"/>
                  <a:t>from </a:t>
                </a:r>
                <a14:m>
                  <m:oMath xmlns:m="http://schemas.openxmlformats.org/officeDocument/2006/math">
                    <m:r>
                      <a:rPr lang="en-US" sz="1600" i="1">
                        <a:latin typeface="Cambria Math" panose="02040503050406030204" pitchFamily="18" charset="0"/>
                      </a:rPr>
                      <m:t>𝑏</m:t>
                    </m:r>
                    <m:r>
                      <a:rPr lang="en-US" sz="1600" i="1">
                        <a:latin typeface="Cambria Math" panose="02040503050406030204" pitchFamily="18" charset="0"/>
                      </a:rPr>
                      <m:t> </m:t>
                    </m:r>
                  </m:oMath>
                </a14:m>
                <a:r>
                  <a:rPr lang="en-US" sz="1600" smtClean="0"/>
                  <a:t>according </a:t>
                </a:r>
                <a:r>
                  <a:rPr lang="en-US" sz="1600"/>
                  <a:t>to the relative probability of their trajectories occurring under </a:t>
                </a:r>
                <a14:m>
                  <m:oMath xmlns:m="http://schemas.openxmlformats.org/officeDocument/2006/math">
                    <m:r>
                      <a:rPr lang="en-US" sz="1600" i="1">
                        <a:latin typeface="Cambria Math" panose="02040503050406030204" pitchFamily="18" charset="0"/>
                        <a:ea typeface="Cambria Math" panose="02040503050406030204" pitchFamily="18" charset="0"/>
                      </a:rPr>
                      <m:t>𝜋</m:t>
                    </m:r>
                    <m:r>
                      <a:rPr lang="en-US" sz="1600" i="1">
                        <a:latin typeface="Cambria Math" panose="02040503050406030204" pitchFamily="18" charset="0"/>
                        <a:ea typeface="Cambria Math" panose="02040503050406030204" pitchFamily="18" charset="0"/>
                      </a:rPr>
                      <m:t> </m:t>
                    </m:r>
                  </m:oMath>
                </a14:m>
                <a:r>
                  <a:rPr lang="en-US" sz="1600" smtClean="0"/>
                  <a:t>and </a:t>
                </a:r>
                <a14:m>
                  <m:oMath xmlns:m="http://schemas.openxmlformats.org/officeDocument/2006/math">
                    <m:r>
                      <a:rPr lang="en-US" sz="1600" i="1">
                        <a:latin typeface="Cambria Math" panose="02040503050406030204" pitchFamily="18" charset="0"/>
                      </a:rPr>
                      <m:t>𝑏</m:t>
                    </m:r>
                  </m:oMath>
                </a14:m>
                <a:r>
                  <a:rPr lang="en-US" sz="1600"/>
                  <a:t> </a:t>
                </a:r>
                <a:r>
                  <a:rPr lang="en-US" sz="1600" smtClean="0"/>
                  <a:t>with importance sampling ratio:</a:t>
                </a:r>
              </a:p>
              <a:p>
                <a:pPr/>
                <a14:m>
                  <m:oMathPara xmlns:m="http://schemas.openxmlformats.org/officeDocument/2006/math">
                    <m:oMathParaPr>
                      <m:jc m:val="center"/>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𝜌</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𝑇</m:t>
                          </m:r>
                          <m:r>
                            <a:rPr lang="en-US" sz="1600" i="1">
                              <a:latin typeface="Cambria Math" panose="02040503050406030204" pitchFamily="18" charset="0"/>
                            </a:rPr>
                            <m:t>−1</m:t>
                          </m:r>
                        </m:sub>
                      </m:sSub>
                      <m:r>
                        <a:rPr lang="en-US" sz="1600" b="0" i="1" smtClean="0">
                          <a:latin typeface="Cambria Math" panose="02040503050406030204" pitchFamily="18" charset="0"/>
                        </a:rPr>
                        <m:t>=</m:t>
                      </m:r>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𝑘</m:t>
                          </m:r>
                          <m:r>
                            <a:rPr lang="en-US" sz="1600" i="1">
                              <a:latin typeface="Cambria Math" panose="02040503050406030204" pitchFamily="18" charset="0"/>
                            </a:rPr>
                            <m:t>=</m:t>
                          </m:r>
                          <m:r>
                            <a:rPr lang="en-US" sz="1600" i="1">
                              <a:latin typeface="Cambria Math" panose="02040503050406030204" pitchFamily="18" charset="0"/>
                            </a:rPr>
                            <m:t>𝑡</m:t>
                          </m:r>
                        </m:sub>
                        <m:sup>
                          <m:r>
                            <a:rPr lang="en-US" sz="1600" i="1">
                              <a:latin typeface="Cambria Math" panose="02040503050406030204" pitchFamily="18" charset="0"/>
                            </a:rPr>
                            <m:t>𝑇</m:t>
                          </m:r>
                          <m:r>
                            <a:rPr lang="en-US" sz="1600" i="1">
                              <a:latin typeface="Cambria Math" panose="02040503050406030204" pitchFamily="18" charset="0"/>
                            </a:rPr>
                            <m:t>−1</m:t>
                          </m:r>
                        </m:sup>
                        <m:e>
                          <m:f>
                            <m:fPr>
                              <m:ctrlPr>
                                <a:rPr lang="en-US" sz="1600" i="1">
                                  <a:latin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𝜋</m:t>
                              </m:r>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𝐴</m:t>
                                  </m:r>
                                </m:e>
                                <m:sub>
                                  <m:r>
                                    <a:rPr lang="en-US" sz="1600" i="1">
                                      <a:latin typeface="Cambria Math" panose="02040503050406030204" pitchFamily="18" charset="0"/>
                                      <a:ea typeface="Cambria Math" panose="02040503050406030204" pitchFamily="18" charset="0"/>
                                    </a:rPr>
                                    <m:t>𝑘</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𝑘</m:t>
                                  </m:r>
                                </m:sub>
                              </m:sSub>
                              <m:r>
                                <a:rPr lang="en-US" sz="1600" i="1">
                                  <a:latin typeface="Cambria Math" panose="02040503050406030204" pitchFamily="18" charset="0"/>
                                  <a:ea typeface="Cambria Math" panose="02040503050406030204" pitchFamily="18" charset="0"/>
                                </a:rPr>
                                <m:t>)</m:t>
                              </m:r>
                            </m:num>
                            <m:den>
                              <m:r>
                                <a:rPr lang="en-US" sz="1600" i="1">
                                  <a:latin typeface="Cambria Math" panose="02040503050406030204" pitchFamily="18" charset="0"/>
                                </a:rPr>
                                <m:t>𝑏</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𝑘</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𝑘</m:t>
                                  </m:r>
                                </m:sub>
                              </m:sSub>
                              <m:r>
                                <a:rPr lang="en-US" sz="1600" i="1">
                                  <a:latin typeface="Cambria Math" panose="02040503050406030204" pitchFamily="18" charset="0"/>
                                </a:rPr>
                                <m:t>)</m:t>
                              </m:r>
                            </m:den>
                          </m:f>
                        </m:e>
                      </m:nary>
                    </m:oMath>
                  </m:oMathPara>
                </a14:m>
                <a:endParaRPr lang="en-US" sz="1600" i="1"/>
              </a:p>
              <a:p>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𝜌</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𝑇</m:t>
                        </m:r>
                        <m:r>
                          <a:rPr lang="en-US" sz="1600" i="1">
                            <a:latin typeface="Cambria Math" panose="02040503050406030204" pitchFamily="18" charset="0"/>
                          </a:rPr>
                          <m:t>−1</m:t>
                        </m:r>
                      </m:sub>
                    </m:sSub>
                  </m:oMath>
                </a14:m>
                <a:r>
                  <a:rPr lang="en-US" sz="1600" i="1" smtClean="0"/>
                  <a:t> transforms </a:t>
                </a:r>
                <a:r>
                  <a:rPr lang="en-US" sz="1600" i="1"/>
                  <a:t>the returns to </a:t>
                </a:r>
                <a:r>
                  <a:rPr lang="en-US" sz="1600" i="1" smtClean="0"/>
                  <a:t>have right </a:t>
                </a:r>
                <a:r>
                  <a:rPr lang="en-US" sz="1600" i="1"/>
                  <a:t>expected value:</a:t>
                </a:r>
                <a:r>
                  <a:rPr lang="en-US" sz="1600" i="1" smtClean="0"/>
                  <a:t> </a:t>
                </a:r>
                <a14:m>
                  <m:oMath xmlns:m="http://schemas.openxmlformats.org/officeDocument/2006/math">
                    <m:r>
                      <a:rPr lang="en-US" sz="1600" i="1">
                        <a:latin typeface="Cambria Math" panose="02040503050406030204" pitchFamily="18" charset="0"/>
                      </a:rPr>
                      <m:t>𝐸</m:t>
                    </m:r>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𝜌</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𝑇</m:t>
                            </m:r>
                            <m:r>
                              <a:rPr lang="en-US" sz="1600" i="1">
                                <a:latin typeface="Cambria Math" panose="02040503050406030204" pitchFamily="18" charset="0"/>
                              </a:rPr>
                              <m:t>−1</m:t>
                            </m:r>
                          </m:sub>
                        </m:sSub>
                        <m:sSub>
                          <m:sSubPr>
                            <m:ctrlPr>
                              <a:rPr lang="en-US" sz="1600" i="1">
                                <a:latin typeface="Cambria Math" panose="02040503050406030204" pitchFamily="18" charset="0"/>
                              </a:rPr>
                            </m:ctrlPr>
                          </m:sSubPr>
                          <m:e>
                            <m:r>
                              <a:rPr lang="en-US" sz="1600" i="1">
                                <a:latin typeface="Cambria Math" panose="02040503050406030204" pitchFamily="18" charset="0"/>
                              </a:rPr>
                              <m:t>𝐺</m:t>
                            </m:r>
                          </m:e>
                          <m:sub>
                            <m:r>
                              <a:rPr lang="en-US" sz="1600" i="1">
                                <a:latin typeface="Cambria Math" panose="02040503050406030204" pitchFamily="18" charset="0"/>
                              </a:rPr>
                              <m:t>𝑡</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r>
                          <a:rPr lang="en-US" sz="1600" i="1">
                            <a:latin typeface="Cambria Math" panose="02040503050406030204" pitchFamily="18" charset="0"/>
                          </a:rPr>
                          <m:t>=</m:t>
                        </m:r>
                        <m:r>
                          <a:rPr lang="en-US" sz="1600" i="1">
                            <a:latin typeface="Cambria Math" panose="02040503050406030204" pitchFamily="18" charset="0"/>
                          </a:rPr>
                          <m:t>𝑠</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𝑣</m:t>
                        </m:r>
                      </m:e>
                      <m:sub>
                        <m:r>
                          <a:rPr lang="en-US" sz="1600" i="1">
                            <a:latin typeface="Cambria Math" panose="02040503050406030204" pitchFamily="18" charset="0"/>
                            <a:ea typeface="Cambria Math" panose="02040503050406030204" pitchFamily="18" charset="0"/>
                          </a:rPr>
                          <m:t>𝜋</m:t>
                        </m:r>
                      </m:sub>
                    </m:sSub>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oMath>
                </a14:m>
                <a:endParaRPr lang="en-US" sz="1600" i="1" smtClean="0"/>
              </a:p>
              <a:p>
                <a:r>
                  <a:rPr lang="en-US" sz="1600" i="1" smtClean="0"/>
                  <a:t>Ordinary: </a:t>
                </a:r>
                <a14:m>
                  <m:oMath xmlns:m="http://schemas.openxmlformats.org/officeDocument/2006/math">
                    <m:r>
                      <a:rPr lang="en-US" sz="1600" b="0" i="1" smtClean="0">
                        <a:latin typeface="Cambria Math" panose="02040503050406030204" pitchFamily="18" charset="0"/>
                      </a:rPr>
                      <m:t>𝑉</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e>
                    </m:d>
                    <m:r>
                      <a:rPr lang="en-US" sz="1600" b="0" i="1" smtClean="0">
                        <a:latin typeface="Cambria Math" panose="02040503050406030204" pitchFamily="18" charset="0"/>
                      </a:rPr>
                      <m:t>= </m:t>
                    </m:r>
                    <m:f>
                      <m:fPr>
                        <m:ctrlPr>
                          <a:rPr lang="en-US" sz="1600" b="0" i="1" smtClean="0">
                            <a:latin typeface="Cambria Math" panose="02040503050406030204" pitchFamily="18" charset="0"/>
                          </a:rPr>
                        </m:ctrlPr>
                      </m:fPr>
                      <m:num>
                        <m:nary>
                          <m:naryPr>
                            <m:chr m:val="∑"/>
                            <m:supHide m:val="on"/>
                            <m:ctrlPr>
                              <a:rPr lang="en-US" sz="1600" b="0" i="1" smtClean="0">
                                <a:latin typeface="Cambria Math" panose="02040503050406030204" pitchFamily="18" charset="0"/>
                              </a:rPr>
                            </m:ctrlPr>
                          </m:naryPr>
                          <m:sub>
                            <m:r>
                              <m:rPr>
                                <m:brk m:alnAt="7"/>
                              </m:rPr>
                              <a:rPr lang="en-US" sz="1600" b="0" i="1" smtClean="0">
                                <a:latin typeface="Cambria Math" panose="02040503050406030204" pitchFamily="18" charset="0"/>
                              </a:rPr>
                              <m:t>𝑡</m:t>
                            </m:r>
                            <m:r>
                              <a:rPr lang="en-US" sz="1600" b="0" i="1" smtClean="0">
                                <a:latin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𝒯</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𝑠</m:t>
                            </m:r>
                            <m:r>
                              <a:rPr lang="en-US" sz="1600" b="0" i="1" smtClean="0">
                                <a:latin typeface="Cambria Math" panose="02040503050406030204" pitchFamily="18" charset="0"/>
                                <a:ea typeface="Cambria Math" panose="02040503050406030204" pitchFamily="18" charset="0"/>
                              </a:rPr>
                              <m:t>)</m:t>
                            </m:r>
                          </m:sub>
                          <m:sup/>
                          <m:e>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𝜌</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𝑇</m:t>
                                </m:r>
                                <m:r>
                                  <a:rPr lang="en-US" sz="1600" i="1">
                                    <a:latin typeface="Cambria Math" panose="02040503050406030204" pitchFamily="18" charset="0"/>
                                  </a:rPr>
                                  <m:t>−1</m:t>
                                </m:r>
                              </m:sub>
                            </m:sSub>
                          </m:e>
                        </m:nary>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𝐺</m:t>
                            </m:r>
                          </m:e>
                          <m:sub>
                            <m:r>
                              <a:rPr lang="en-US" sz="1600" b="0" i="1" smtClean="0">
                                <a:latin typeface="Cambria Math" panose="02040503050406030204" pitchFamily="18" charset="0"/>
                              </a:rPr>
                              <m:t>𝑡</m:t>
                            </m:r>
                          </m:sub>
                        </m:sSub>
                      </m:num>
                      <m:den>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𝒯</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𝑠</m:t>
                        </m:r>
                        <m:r>
                          <a:rPr lang="en-US" sz="1600" b="0" i="1" smtClean="0">
                            <a:latin typeface="Cambria Math" panose="02040503050406030204" pitchFamily="18" charset="0"/>
                            <a:ea typeface="Cambria Math" panose="02040503050406030204" pitchFamily="18" charset="0"/>
                          </a:rPr>
                          <m:t>)|</m:t>
                        </m:r>
                      </m:den>
                    </m:f>
                  </m:oMath>
                </a14:m>
                <a:r>
                  <a:rPr lang="en-US" sz="1600" i="1" smtClean="0"/>
                  <a:t> </a:t>
                </a:r>
              </a:p>
              <a:p>
                <a:r>
                  <a:rPr lang="en-US" sz="1600" i="1">
                    <a:latin typeface="Cambria Math" panose="02040503050406030204" pitchFamily="18" charset="0"/>
                  </a:rPr>
                  <a:t>	</a:t>
                </a:r>
                <a:r>
                  <a:rPr lang="en-US" sz="1600" i="1" smtClean="0">
                    <a:latin typeface="Cambria Math" panose="02040503050406030204" pitchFamily="18" charset="0"/>
                  </a:rPr>
                  <a:t>1</a:t>
                </a:r>
                <a:r>
                  <a:rPr lang="en-US" sz="1600" i="1" baseline="30000" smtClean="0">
                    <a:latin typeface="Cambria Math" panose="02040503050406030204" pitchFamily="18" charset="0"/>
                  </a:rPr>
                  <a:t>st</a:t>
                </a:r>
                <a:r>
                  <a:rPr lang="en-US" sz="1600" i="1" smtClean="0">
                    <a:latin typeface="Cambria Math" panose="02040503050406030204" pitchFamily="18" charset="0"/>
                  </a:rPr>
                  <a:t>: </a:t>
                </a:r>
                <a:r>
                  <a:rPr lang="en-US" sz="1600" i="1" smtClean="0"/>
                  <a:t>unbiased, variance unbounded</a:t>
                </a:r>
                <a:endParaRPr lang="en-US" sz="1600" i="1">
                  <a:latin typeface="Cambria Math" panose="02040503050406030204" pitchFamily="18" charset="0"/>
                </a:endParaRPr>
              </a:p>
              <a:p>
                <a:r>
                  <a:rPr lang="en-US" sz="1600" i="1" smtClean="0">
                    <a:ea typeface="Cambria Math" panose="02040503050406030204" pitchFamily="18" charset="0"/>
                  </a:rPr>
                  <a:t>Weighted</a:t>
                </a:r>
                <a:r>
                  <a:rPr lang="en-US" sz="1600" i="1" smtClean="0">
                    <a:latin typeface="Cambria Math" panose="02040503050406030204" pitchFamily="18" charset="0"/>
                    <a:ea typeface="Cambria Math" panose="02040503050406030204" pitchFamily="18" charset="0"/>
                  </a:rPr>
                  <a:t>: </a:t>
                </a:r>
                <a14:m>
                  <m:oMath xmlns:m="http://schemas.openxmlformats.org/officeDocument/2006/math">
                    <m:r>
                      <a:rPr lang="en-US" sz="1600" i="1">
                        <a:latin typeface="Cambria Math" panose="02040503050406030204" pitchFamily="18" charset="0"/>
                      </a:rPr>
                      <m:t>𝑉</m:t>
                    </m:r>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 </m:t>
                    </m:r>
                    <m:f>
                      <m:fPr>
                        <m:ctrlPr>
                          <a:rPr lang="en-US" sz="1600" i="1">
                            <a:latin typeface="Cambria Math" panose="02040503050406030204" pitchFamily="18" charset="0"/>
                          </a:rPr>
                        </m:ctrlPr>
                      </m:fPr>
                      <m:num>
                        <m:nary>
                          <m:naryPr>
                            <m:chr m:val="∑"/>
                            <m:supHide m:val="on"/>
                            <m:ctrlPr>
                              <a:rPr lang="en-US" sz="1600" i="1">
                                <a:latin typeface="Cambria Math" panose="02040503050406030204" pitchFamily="18" charset="0"/>
                              </a:rPr>
                            </m:ctrlPr>
                          </m:naryPr>
                          <m:sub>
                            <m:r>
                              <m:rPr>
                                <m:brk m:alnAt="7"/>
                              </m:rPr>
                              <a:rPr lang="en-US" sz="1600" i="1">
                                <a:latin typeface="Cambria Math" panose="02040503050406030204" pitchFamily="18" charset="0"/>
                              </a:rPr>
                              <m:t>𝑡</m:t>
                            </m:r>
                            <m:r>
                              <a:rPr lang="en-US" sz="1600" i="1">
                                <a:latin typeface="Cambria Math" panose="02040503050406030204" pitchFamily="18" charset="0"/>
                              </a:rPr>
                              <m:t> ∈</m:t>
                            </m:r>
                            <m:r>
                              <a:rPr lang="en-US" sz="1600" i="1">
                                <a:latin typeface="Cambria Math" panose="02040503050406030204" pitchFamily="18" charset="0"/>
                                <a:ea typeface="Cambria Math" panose="02040503050406030204" pitchFamily="18" charset="0"/>
                              </a:rPr>
                              <m:t>𝒯</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𝑠</m:t>
                            </m:r>
                            <m:r>
                              <a:rPr lang="en-US" sz="1600" i="1">
                                <a:latin typeface="Cambria Math" panose="02040503050406030204" pitchFamily="18" charset="0"/>
                                <a:ea typeface="Cambria Math" panose="02040503050406030204" pitchFamily="18" charset="0"/>
                              </a:rPr>
                              <m:t>)</m:t>
                            </m:r>
                          </m:sub>
                          <m:sup/>
                          <m:e>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𝜌</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𝑇</m:t>
                                </m:r>
                                <m:r>
                                  <a:rPr lang="en-US" sz="1600" i="1">
                                    <a:latin typeface="Cambria Math" panose="02040503050406030204" pitchFamily="18" charset="0"/>
                                  </a:rPr>
                                  <m:t>−1</m:t>
                                </m:r>
                              </m:sub>
                            </m:sSub>
                          </m:e>
                        </m:nary>
                        <m:sSub>
                          <m:sSubPr>
                            <m:ctrlPr>
                              <a:rPr lang="en-US" sz="1600" i="1">
                                <a:latin typeface="Cambria Math" panose="02040503050406030204" pitchFamily="18" charset="0"/>
                              </a:rPr>
                            </m:ctrlPr>
                          </m:sSubPr>
                          <m:e>
                            <m:r>
                              <a:rPr lang="en-US" sz="1600" i="1">
                                <a:latin typeface="Cambria Math" panose="02040503050406030204" pitchFamily="18" charset="0"/>
                              </a:rPr>
                              <m:t>𝐺</m:t>
                            </m:r>
                          </m:e>
                          <m:sub>
                            <m:r>
                              <a:rPr lang="en-US" sz="1600" i="1">
                                <a:latin typeface="Cambria Math" panose="02040503050406030204" pitchFamily="18" charset="0"/>
                              </a:rPr>
                              <m:t>𝑡</m:t>
                            </m:r>
                          </m:sub>
                        </m:sSub>
                      </m:num>
                      <m:den>
                        <m:nary>
                          <m:naryPr>
                            <m:chr m:val="∑"/>
                            <m:supHide m:val="on"/>
                            <m:ctrlPr>
                              <a:rPr lang="en-US" sz="1600" i="1">
                                <a:latin typeface="Cambria Math" panose="02040503050406030204" pitchFamily="18" charset="0"/>
                              </a:rPr>
                            </m:ctrlPr>
                          </m:naryPr>
                          <m:sub>
                            <m:r>
                              <m:rPr>
                                <m:brk m:alnAt="7"/>
                              </m:rPr>
                              <a:rPr lang="en-US" sz="1600" i="1">
                                <a:latin typeface="Cambria Math" panose="02040503050406030204" pitchFamily="18" charset="0"/>
                              </a:rPr>
                              <m:t>𝑡</m:t>
                            </m:r>
                            <m:r>
                              <a:rPr lang="en-US" sz="1600" i="1">
                                <a:latin typeface="Cambria Math" panose="02040503050406030204" pitchFamily="18" charset="0"/>
                              </a:rPr>
                              <m:t> ∈</m:t>
                            </m:r>
                            <m:r>
                              <a:rPr lang="en-US" sz="1600" i="1">
                                <a:latin typeface="Cambria Math" panose="02040503050406030204" pitchFamily="18" charset="0"/>
                                <a:ea typeface="Cambria Math" panose="02040503050406030204" pitchFamily="18" charset="0"/>
                              </a:rPr>
                              <m:t>𝒯</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𝑠</m:t>
                            </m:r>
                            <m:r>
                              <a:rPr lang="en-US" sz="1600" i="1">
                                <a:latin typeface="Cambria Math" panose="02040503050406030204" pitchFamily="18" charset="0"/>
                                <a:ea typeface="Cambria Math" panose="02040503050406030204" pitchFamily="18" charset="0"/>
                              </a:rPr>
                              <m:t>)</m:t>
                            </m:r>
                          </m:sub>
                          <m:sup/>
                          <m:e>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𝜌</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𝑇</m:t>
                                </m:r>
                                <m:r>
                                  <a:rPr lang="en-US" sz="1600" i="1">
                                    <a:latin typeface="Cambria Math" panose="02040503050406030204" pitchFamily="18" charset="0"/>
                                  </a:rPr>
                                  <m:t>−1</m:t>
                                </m:r>
                              </m:sub>
                            </m:sSub>
                          </m:e>
                        </m:nary>
                      </m:den>
                    </m:f>
                  </m:oMath>
                </a14:m>
                <a:endParaRPr lang="en-US" sz="1600" i="1" smtClean="0">
                  <a:latin typeface="Cambria Math" panose="02040503050406030204" pitchFamily="18" charset="0"/>
                  <a:ea typeface="Cambria Math" panose="02040503050406030204" pitchFamily="18" charset="0"/>
                </a:endParaRPr>
              </a:p>
              <a:p>
                <a:pPr lvl="1"/>
                <a:r>
                  <a:rPr lang="en-US" sz="1600" i="1" smtClean="0"/>
                  <a:t>1</a:t>
                </a:r>
                <a:r>
                  <a:rPr lang="en-US" sz="1600" i="1" baseline="30000" smtClean="0"/>
                  <a:t>st</a:t>
                </a:r>
                <a:r>
                  <a:rPr lang="en-US" sz="1600" i="1" smtClean="0"/>
                  <a:t>: biased</a:t>
                </a:r>
                <a:r>
                  <a:rPr lang="en-US" sz="1600" i="1"/>
                  <a:t>, </a:t>
                </a:r>
                <a14:m>
                  <m:oMath xmlns:m="http://schemas.openxmlformats.org/officeDocument/2006/math">
                    <m:func>
                      <m:funcPr>
                        <m:ctrlPr>
                          <a:rPr lang="en-US" sz="1600" i="1" smtClean="0">
                            <a:latin typeface="Cambria Math" panose="02040503050406030204" pitchFamily="18" charset="0"/>
                          </a:rPr>
                        </m:ctrlPr>
                      </m:funcPr>
                      <m:fName>
                        <m:limLow>
                          <m:limLowPr>
                            <m:ctrlPr>
                              <a:rPr lang="en-US" sz="1600" i="1" smtClean="0">
                                <a:latin typeface="Cambria Math" panose="02040503050406030204" pitchFamily="18" charset="0"/>
                              </a:rPr>
                            </m:ctrlPr>
                          </m:limLowPr>
                          <m:e>
                            <m:r>
                              <m:rPr>
                                <m:sty m:val="p"/>
                              </m:rPr>
                              <a:rPr lang="en-US" sz="1600" i="0" smtClean="0">
                                <a:latin typeface="Cambria Math" panose="02040503050406030204" pitchFamily="18" charset="0"/>
                              </a:rPr>
                              <m:t>lim</m:t>
                            </m:r>
                          </m:e>
                          <m:lim>
                            <m:r>
                              <a:rPr lang="en-US" sz="1600" b="0" i="1" smtClean="0">
                                <a:latin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lim>
                        </m:limLow>
                      </m:fName>
                      <m:e>
                        <m:r>
                          <a:rPr lang="en-US" sz="1600" b="0" i="1" smtClean="0">
                            <a:latin typeface="Cambria Math" panose="02040503050406030204" pitchFamily="18" charset="0"/>
                          </a:rPr>
                          <m:t> </m:t>
                        </m:r>
                      </m:e>
                    </m:func>
                  </m:oMath>
                </a14:m>
                <a:r>
                  <a:rPr lang="en-US" sz="1600" i="1" smtClean="0">
                    <a:ea typeface="Cambria Math" panose="02040503050406030204" pitchFamily="18" charset="0"/>
                  </a:rPr>
                  <a:t>variance = 0</a:t>
                </a:r>
                <a:endParaRPr lang="en-US" sz="1600" i="1" smtClean="0">
                  <a:latin typeface="Cambria Math" panose="02040503050406030204" pitchFamily="18" charset="0"/>
                  <a:ea typeface="Cambria Math" panose="02040503050406030204" pitchFamily="18" charset="0"/>
                </a:endParaRPr>
              </a:p>
              <a:p>
                <a:r>
                  <a:rPr lang="en-US" sz="1200" i="1">
                    <a:latin typeface="Cambria Math" panose="02040503050406030204" pitchFamily="18" charset="0"/>
                  </a:rPr>
                  <a:t>*</a:t>
                </a:r>
                <a14:m>
                  <m:oMath xmlns:m="http://schemas.openxmlformats.org/officeDocument/2006/math">
                    <m:r>
                      <a:rPr lang="en-US" sz="1200"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𝒯</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𝑠</m:t>
                    </m:r>
                    <m:r>
                      <a:rPr lang="en-US" sz="1200" i="1">
                        <a:latin typeface="Cambria Math" panose="02040503050406030204" pitchFamily="18" charset="0"/>
                        <a:ea typeface="Cambria Math" panose="02040503050406030204" pitchFamily="18" charset="0"/>
                      </a:rPr>
                      <m:t>)|</m:t>
                    </m:r>
                  </m:oMath>
                </a14:m>
                <a:r>
                  <a:rPr lang="en-US" sz="1200" i="1" smtClean="0"/>
                  <a:t> = # of times state was visited</a:t>
                </a:r>
              </a:p>
            </p:txBody>
          </p:sp>
        </mc:Choice>
        <mc:Fallback>
          <p:sp>
            <p:nvSpPr>
              <p:cNvPr id="20" name="Rounded Rectangle 19"/>
              <p:cNvSpPr>
                <a:spLocks noRot="1" noChangeAspect="1" noMove="1" noResize="1" noEditPoints="1" noAdjustHandles="1" noChangeArrowheads="1" noChangeShapeType="1" noTextEdit="1"/>
              </p:cNvSpPr>
              <p:nvPr/>
            </p:nvSpPr>
            <p:spPr>
              <a:xfrm>
                <a:off x="81696" y="7038294"/>
                <a:ext cx="4602649" cy="3993996"/>
              </a:xfrm>
              <a:prstGeom prst="round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Rounded Rectangle 20"/>
              <p:cNvSpPr/>
              <p:nvPr/>
            </p:nvSpPr>
            <p:spPr>
              <a:xfrm>
                <a:off x="81696" y="1456543"/>
                <a:ext cx="7007750" cy="3229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Markov property </a:t>
                </a:r>
                <a14:m>
                  <m:oMath xmlns:m="http://schemas.openxmlformats.org/officeDocument/2006/math">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Pr</m:t>
                        </m:r>
                      </m:fName>
                      <m:e>
                        <m:d>
                          <m:dPr>
                            <m:begChr m:val="{"/>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𝑆</m:t>
                                </m:r>
                              </m:e>
                              <m:sub>
                                <m:r>
                                  <a:rPr lang="en-US" sz="1800" b="0" i="1" smtClean="0">
                                    <a:latin typeface="Cambria Math" panose="02040503050406030204" pitchFamily="18" charset="0"/>
                                  </a:rPr>
                                  <m:t>𝑡</m:t>
                                </m:r>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𝑡</m:t>
                                </m:r>
                                <m:r>
                                  <a:rPr lang="en-US" sz="1800" b="0" i="1" smtClean="0">
                                    <a:latin typeface="Cambria Math" panose="02040503050406030204" pitchFamily="18" charset="0"/>
                                  </a:rPr>
                                  <m:t>+1</m:t>
                                </m:r>
                              </m:sub>
                            </m:sSub>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𝑆</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𝑆</m:t>
                                </m:r>
                              </m:e>
                              <m:sub>
                                <m:r>
                                  <a:rPr lang="en-US" sz="1800" b="0" i="1" smtClean="0">
                                    <a:latin typeface="Cambria Math" panose="02040503050406030204" pitchFamily="18" charset="0"/>
                                  </a:rPr>
                                  <m:t>0</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0</m:t>
                                </m:r>
                              </m:sub>
                            </m:sSub>
                          </m:e>
                        </m:d>
                      </m:e>
                    </m:func>
                    <m:r>
                      <a:rPr lang="en-US" sz="1800" b="0" i="1" smtClean="0">
                        <a:latin typeface="Cambria Math" panose="02040503050406030204" pitchFamily="18" charset="0"/>
                      </a:rPr>
                      <m:t>=</m:t>
                    </m:r>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Pr</m:t>
                        </m:r>
                      </m:fName>
                      <m:e>
                        <m:d>
                          <m:dPr>
                            <m:begChr m:val="{"/>
                            <m:endChr m:val="}"/>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𝑡</m:t>
                                </m:r>
                                <m:r>
                                  <a:rPr lang="en-US" sz="1800" i="1">
                                    <a:latin typeface="Cambria Math" panose="02040503050406030204" pitchFamily="18" charset="0"/>
                                  </a:rPr>
                                  <m:t>+1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i="1">
                                    <a:latin typeface="Cambria Math" panose="02040503050406030204" pitchFamily="18" charset="0"/>
                                  </a:rPr>
                                  <m:t>𝑡</m:t>
                                </m:r>
                              </m:sub>
                            </m:sSub>
                            <m:r>
                              <a:rPr lang="en-US" sz="1800" i="1" smtClean="0">
                                <a:latin typeface="Cambria Math" panose="02040503050406030204" pitchFamily="18" charset="0"/>
                              </a:rPr>
                              <m:t> </m:t>
                            </m:r>
                          </m:e>
                        </m:d>
                      </m:e>
                    </m:func>
                  </m:oMath>
                </a14:m>
                <a:endParaRPr lang="en-US" sz="1800" i="1"/>
              </a:p>
            </p:txBody>
          </p:sp>
        </mc:Choice>
        <mc:Fallback>
          <p:sp>
            <p:nvSpPr>
              <p:cNvPr id="21" name="Rounded Rectangle 20"/>
              <p:cNvSpPr>
                <a:spLocks noRot="1" noChangeAspect="1" noMove="1" noResize="1" noEditPoints="1" noAdjustHandles="1" noChangeArrowheads="1" noChangeShapeType="1" noTextEdit="1"/>
              </p:cNvSpPr>
              <p:nvPr/>
            </p:nvSpPr>
            <p:spPr>
              <a:xfrm>
                <a:off x="81696" y="1456543"/>
                <a:ext cx="7007750" cy="322969"/>
              </a:xfrm>
              <a:prstGeom prst="roundRect">
                <a:avLst/>
              </a:prstGeom>
              <a:blipFill>
                <a:blip r:embed="rId7"/>
                <a:stretch>
                  <a:fillRect l="-434" t="-14545" b="-3272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Rounded Rectangle 22"/>
              <p:cNvSpPr/>
              <p:nvPr/>
            </p:nvSpPr>
            <p:spPr>
              <a:xfrm>
                <a:off x="5222914" y="5163113"/>
                <a:ext cx="9560634" cy="4647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i="1" smtClean="0"/>
                  <a:t>Policy improvement theorem: </a:t>
                </a:r>
                <a:r>
                  <a:rPr lang="en-US" sz="1600" smtClean="0"/>
                  <a:t>with policies </a:t>
                </a:r>
                <a14:m>
                  <m:oMath xmlns:m="http://schemas.openxmlformats.org/officeDocument/2006/math">
                    <m:r>
                      <a:rPr lang="en-US" sz="1600" i="1" smtClean="0">
                        <a:latin typeface="Cambria Math" panose="02040503050406030204" pitchFamily="18" charset="0"/>
                        <a:ea typeface="Cambria Math" panose="02040503050406030204" pitchFamily="18" charset="0"/>
                      </a:rPr>
                      <m:t>𝜋</m:t>
                    </m:r>
                  </m:oMath>
                </a14:m>
                <a:r>
                  <a:rPr lang="en-US" sz="1600" smtClean="0"/>
                  <a:t> and </a:t>
                </a:r>
                <a14:m>
                  <m:oMath xmlns:m="http://schemas.openxmlformats.org/officeDocument/2006/math">
                    <m:sSup>
                      <m:sSupPr>
                        <m:ctrlPr>
                          <a:rPr lang="en-US" sz="1600" i="1" smtClean="0">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𝜋</m:t>
                        </m:r>
                      </m:e>
                      <m:sup>
                        <m:r>
                          <a:rPr lang="en-US" sz="1600" b="0" i="1" smtClean="0">
                            <a:latin typeface="Cambria Math" panose="02040503050406030204" pitchFamily="18" charset="0"/>
                            <a:ea typeface="Cambria Math" panose="02040503050406030204" pitchFamily="18" charset="0"/>
                          </a:rPr>
                          <m:t>′</m:t>
                        </m:r>
                      </m:sup>
                    </m:sSup>
                  </m:oMath>
                </a14:m>
                <a:r>
                  <a:rPr lang="en-US" sz="1600" smtClean="0"/>
                  <a:t> if for all states </a:t>
                </a:r>
                <a14:m>
                  <m:oMath xmlns:m="http://schemas.openxmlformats.org/officeDocument/2006/math">
                    <m:nary>
                      <m:naryPr>
                        <m:chr m:val="∑"/>
                        <m:supHide m:val="on"/>
                        <m:ctrlPr>
                          <a:rPr lang="en-US" sz="1600" i="1" smtClean="0">
                            <a:latin typeface="Cambria Math" panose="02040503050406030204" pitchFamily="18" charset="0"/>
                          </a:rPr>
                        </m:ctrlPr>
                      </m:naryPr>
                      <m:sub>
                        <m:r>
                          <m:rPr>
                            <m:brk m:alnAt="7"/>
                          </m:rPr>
                          <a:rPr lang="en-US" sz="1600" b="0" i="1" smtClean="0">
                            <a:latin typeface="Cambria Math" panose="02040503050406030204" pitchFamily="18" charset="0"/>
                          </a:rPr>
                          <m:t>𝑎</m:t>
                        </m:r>
                      </m:sub>
                      <m:sup/>
                      <m:e>
                        <m:sSup>
                          <m:sSupPr>
                            <m:ctrlPr>
                              <a:rPr lang="en-US" sz="1600" i="1" smtClean="0">
                                <a:latin typeface="Cambria Math" panose="02040503050406030204" pitchFamily="18" charset="0"/>
                              </a:rPr>
                            </m:ctrlPr>
                          </m:sSupPr>
                          <m:e>
                            <m:r>
                              <a:rPr lang="en-US" sz="1600" i="1" smtClean="0">
                                <a:latin typeface="Cambria Math" panose="02040503050406030204" pitchFamily="18" charset="0"/>
                                <a:ea typeface="Cambria Math" panose="02040503050406030204" pitchFamily="18" charset="0"/>
                              </a:rPr>
                              <m:t>𝜋</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m:t>
                        </m:r>
                        <m:r>
                          <a:rPr lang="en-US" sz="1600" b="0" i="1" smtClean="0">
                            <a:latin typeface="Cambria Math" panose="02040503050406030204" pitchFamily="18" charset="0"/>
                          </a:rPr>
                          <m:t>𝑎</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ea typeface="Cambria Math" panose="02040503050406030204" pitchFamily="18" charset="0"/>
                              </a:rPr>
                              <m:t>𝜋</m:t>
                            </m:r>
                          </m:sub>
                        </m:sSub>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𝑎</m:t>
                        </m:r>
                        <m:r>
                          <a:rPr lang="en-US" sz="1600" b="0" i="1" smtClean="0">
                            <a:latin typeface="Cambria Math" panose="02040503050406030204" pitchFamily="18" charset="0"/>
                          </a:rPr>
                          <m:t>)≥</m:t>
                        </m:r>
                      </m:e>
                    </m:nary>
                    <m:nary>
                      <m:naryPr>
                        <m:chr m:val="∑"/>
                        <m:supHide m:val="on"/>
                        <m:ctrlPr>
                          <a:rPr lang="en-US" sz="1600" i="1" smtClean="0">
                            <a:latin typeface="Cambria Math" panose="02040503050406030204" pitchFamily="18" charset="0"/>
                          </a:rPr>
                        </m:ctrlPr>
                      </m:naryPr>
                      <m:sub>
                        <m:r>
                          <m:rPr>
                            <m:brk m:alnAt="7"/>
                          </m:rPr>
                          <a:rPr lang="en-US" sz="1600" i="1">
                            <a:latin typeface="Cambria Math" panose="02040503050406030204" pitchFamily="18" charset="0"/>
                          </a:rPr>
                          <m:t>𝑎</m:t>
                        </m:r>
                      </m:sub>
                      <m:sup/>
                      <m:e>
                        <m:r>
                          <a:rPr lang="en-US" sz="1600" i="1" smtClean="0">
                            <a:latin typeface="Cambria Math" panose="02040503050406030204" pitchFamily="18" charset="0"/>
                            <a:ea typeface="Cambria Math" panose="02040503050406030204" pitchFamily="18" charset="0"/>
                          </a:rPr>
                          <m:t>𝜋</m:t>
                        </m:r>
                        <m:r>
                          <a:rPr lang="en-US" sz="1600" i="1" smtClean="0">
                            <a:latin typeface="Cambria Math" panose="02040503050406030204" pitchFamily="18" charset="0"/>
                          </a:rPr>
                          <m:t> </m:t>
                        </m:r>
                        <m:r>
                          <a:rPr lang="en-US" sz="1600" i="1">
                            <a:latin typeface="Cambria Math" panose="02040503050406030204" pitchFamily="18" charset="0"/>
                          </a:rPr>
                          <m:t>(</m:t>
                        </m:r>
                        <m:r>
                          <a:rPr lang="en-US" sz="1600" i="1">
                            <a:latin typeface="Cambria Math" panose="02040503050406030204" pitchFamily="18" charset="0"/>
                          </a:rPr>
                          <m:t>𝑎</m:t>
                        </m:r>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𝑞</m:t>
                            </m:r>
                          </m:e>
                          <m:sub>
                            <m:r>
                              <a:rPr lang="en-US" sz="1600" i="1">
                                <a:latin typeface="Cambria Math" panose="02040503050406030204" pitchFamily="18" charset="0"/>
                                <a:ea typeface="Cambria Math" panose="02040503050406030204" pitchFamily="18" charset="0"/>
                              </a:rPr>
                              <m:t>𝜋</m:t>
                            </m:r>
                          </m:sub>
                        </m:sSub>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r>
                          <a:rPr lang="en-US" sz="1600" i="1">
                            <a:latin typeface="Cambria Math" panose="02040503050406030204" pitchFamily="18" charset="0"/>
                          </a:rPr>
                          <m:t>𝑎</m:t>
                        </m:r>
                        <m:r>
                          <a:rPr lang="en-US" sz="1600" i="1">
                            <a:latin typeface="Cambria Math" panose="02040503050406030204" pitchFamily="18" charset="0"/>
                          </a:rPr>
                          <m:t>)</m:t>
                        </m:r>
                      </m:e>
                    </m:nary>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ea typeface="Cambria Math" panose="02040503050406030204" pitchFamily="18" charset="0"/>
                          </a:rPr>
                          <m:t>𝜋</m:t>
                        </m:r>
                      </m:sub>
                    </m:sSub>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oMath>
                </a14:m>
                <a:r>
                  <a:rPr lang="en-US" sz="1600" smtClean="0"/>
                  <a:t> then </a:t>
                </a:r>
                <a14:m>
                  <m:oMath xmlns:m="http://schemas.openxmlformats.org/officeDocument/2006/math">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𝜋</m:t>
                        </m:r>
                      </m:e>
                      <m:sup>
                        <m:r>
                          <a:rPr lang="en-US" sz="1600" i="1">
                            <a:latin typeface="Cambria Math" panose="02040503050406030204" pitchFamily="18" charset="0"/>
                            <a:ea typeface="Cambria Math" panose="02040503050406030204" pitchFamily="18" charset="0"/>
                          </a:rPr>
                          <m:t>′</m:t>
                        </m:r>
                      </m:sup>
                    </m:sSup>
                  </m:oMath>
                </a14:m>
                <a:r>
                  <a:rPr lang="en-US" sz="1600"/>
                  <a:t> must be as good as or better than </a:t>
                </a:r>
                <a14:m>
                  <m:oMath xmlns:m="http://schemas.openxmlformats.org/officeDocument/2006/math">
                    <m:r>
                      <a:rPr lang="en-US" sz="1600" i="1">
                        <a:latin typeface="Cambria Math" panose="02040503050406030204" pitchFamily="18" charset="0"/>
                        <a:ea typeface="Cambria Math" panose="02040503050406030204" pitchFamily="18" charset="0"/>
                      </a:rPr>
                      <m:t>𝜋</m:t>
                    </m:r>
                  </m:oMath>
                </a14:m>
                <a:r>
                  <a:rPr lang="en-US" sz="1600" smtClean="0"/>
                  <a:t>:</a:t>
                </a:r>
                <a14:m>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𝑣</m:t>
                        </m:r>
                      </m:e>
                      <m:sub>
                        <m:sSup>
                          <m:sSupPr>
                            <m:ctrlPr>
                              <a:rPr lang="en-US" sz="1600" i="1" smtClean="0">
                                <a:latin typeface="Cambria Math" panose="02040503050406030204" pitchFamily="18" charset="0"/>
                              </a:rPr>
                            </m:ctrlPr>
                          </m:sSupPr>
                          <m:e>
                            <m:r>
                              <a:rPr lang="en-US" sz="1600" i="1" smtClean="0">
                                <a:latin typeface="Cambria Math" panose="02040503050406030204" pitchFamily="18" charset="0"/>
                                <a:ea typeface="Cambria Math" panose="02040503050406030204" pitchFamily="18" charset="0"/>
                              </a:rPr>
                              <m:t>𝜋</m:t>
                            </m:r>
                          </m:e>
                          <m:sup>
                            <m:r>
                              <a:rPr lang="en-US" sz="1600" b="0" i="1" smtClean="0">
                                <a:latin typeface="Cambria Math" panose="02040503050406030204" pitchFamily="18" charset="0"/>
                              </a:rPr>
                              <m:t>′</m:t>
                            </m:r>
                          </m:sup>
                        </m:sSup>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e>
                    </m:d>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𝑣</m:t>
                        </m:r>
                      </m:e>
                      <m:sub>
                        <m:r>
                          <a:rPr lang="en-US" sz="1600" i="1">
                            <a:latin typeface="Cambria Math" panose="02040503050406030204" pitchFamily="18" charset="0"/>
                            <a:ea typeface="Cambria Math" panose="02040503050406030204" pitchFamily="18" charset="0"/>
                          </a:rPr>
                          <m:t>𝜋</m:t>
                        </m:r>
                      </m:sub>
                    </m:sSub>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rPr>
                          <m:t>𝑠</m:t>
                        </m:r>
                      </m:e>
                    </m:d>
                    <m:r>
                      <a:rPr lang="en-US" sz="1600" b="0" i="1" smtClean="0">
                        <a:latin typeface="Cambria Math" panose="02040503050406030204" pitchFamily="18" charset="0"/>
                      </a:rPr>
                      <m:t> </m:t>
                    </m:r>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𝑠</m:t>
                    </m:r>
                  </m:oMath>
                </a14:m>
                <a:endParaRPr lang="en-US" sz="1600"/>
              </a:p>
            </p:txBody>
          </p:sp>
        </mc:Choice>
        <mc:Fallback>
          <p:sp>
            <p:nvSpPr>
              <p:cNvPr id="23" name="Rounded Rectangle 22"/>
              <p:cNvSpPr>
                <a:spLocks noRot="1" noChangeAspect="1" noMove="1" noResize="1" noEditPoints="1" noAdjustHandles="1" noChangeArrowheads="1" noChangeShapeType="1" noTextEdit="1"/>
              </p:cNvSpPr>
              <p:nvPr/>
            </p:nvSpPr>
            <p:spPr>
              <a:xfrm>
                <a:off x="5222914" y="5163113"/>
                <a:ext cx="9560634" cy="464762"/>
              </a:xfrm>
              <a:prstGeom prst="roundRect">
                <a:avLst/>
              </a:prstGeom>
              <a:blipFill>
                <a:blip r:embed="rId8"/>
                <a:stretch>
                  <a:fillRect l="-64" t="-89744" b="-80769"/>
                </a:stretch>
              </a:blipFill>
            </p:spPr>
            <p:txBody>
              <a:bodyPr/>
              <a:lstStyle/>
              <a:p>
                <a:r>
                  <a:rPr lang="en-US">
                    <a:noFill/>
                  </a:rPr>
                  <a:t> </a:t>
                </a:r>
              </a:p>
            </p:txBody>
          </p:sp>
        </mc:Fallback>
      </mc:AlternateContent>
    </p:spTree>
    <p:extLst>
      <p:ext uri="{BB962C8B-B14F-4D97-AF65-F5344CB8AC3E}">
        <p14:creationId xmlns:p14="http://schemas.microsoft.com/office/powerpoint/2010/main" val="1441763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561934" y="70776"/>
            <a:ext cx="2903838" cy="5890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Tabular Methods</a:t>
            </a:r>
          </a:p>
        </p:txBody>
      </p:sp>
      <p:sp>
        <p:nvSpPr>
          <p:cNvPr id="5" name="Rounded Rectangle 4"/>
          <p:cNvSpPr/>
          <p:nvPr/>
        </p:nvSpPr>
        <p:spPr>
          <a:xfrm>
            <a:off x="7750197" y="70776"/>
            <a:ext cx="2903838" cy="5890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Function Approximation</a:t>
            </a:r>
          </a:p>
        </p:txBody>
      </p:sp>
      <p:sp>
        <p:nvSpPr>
          <p:cNvPr id="6" name="Rounded Rectangle 5"/>
          <p:cNvSpPr/>
          <p:nvPr/>
        </p:nvSpPr>
        <p:spPr>
          <a:xfrm>
            <a:off x="10782673" y="43039"/>
            <a:ext cx="4762128" cy="6813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t>“a powerful, scalable way of generalizing from a state space much larger than the memory and computational resources”</a:t>
            </a:r>
          </a:p>
        </p:txBody>
      </p:sp>
      <p:sp>
        <p:nvSpPr>
          <p:cNvPr id="8" name="Rounded Rectangle 7"/>
          <p:cNvSpPr/>
          <p:nvPr/>
        </p:nvSpPr>
        <p:spPr>
          <a:xfrm>
            <a:off x="7750198" y="1588089"/>
            <a:ext cx="7620001" cy="3047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When: high dimensionality of state space</a:t>
            </a:r>
          </a:p>
        </p:txBody>
      </p:sp>
      <p:sp>
        <p:nvSpPr>
          <p:cNvPr id="9" name="Rounded Rectangle 8"/>
          <p:cNvSpPr/>
          <p:nvPr/>
        </p:nvSpPr>
        <p:spPr>
          <a:xfrm>
            <a:off x="7750198" y="1987626"/>
            <a:ext cx="5469925" cy="3624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Stochastic-gradient methods</a:t>
            </a:r>
          </a:p>
        </p:txBody>
      </p:sp>
      <mc:AlternateContent xmlns:mc="http://schemas.openxmlformats.org/markup-compatibility/2006">
        <mc:Choice xmlns:a14="http://schemas.microsoft.com/office/drawing/2010/main" Requires="a14">
          <p:sp>
            <p:nvSpPr>
              <p:cNvPr id="10" name="Rounded Rectangle 9"/>
              <p:cNvSpPr/>
              <p:nvPr/>
            </p:nvSpPr>
            <p:spPr>
              <a:xfrm>
                <a:off x="8100305" y="2444828"/>
                <a:ext cx="7269893" cy="341852"/>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Gradient MC update: </a:t>
                </a:r>
                <a14:m>
                  <m:oMath xmlns:m="http://schemas.openxmlformats.org/officeDocument/2006/math">
                    <m:r>
                      <a:rPr lang="en-US" i="1">
                        <a:latin typeface="Cambria Math" panose="02040503050406030204" pitchFamily="18" charset="0"/>
                      </a:rPr>
                      <m:t>𝑤</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𝑤</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𝑤</m:t>
                    </m:r>
                    <m:r>
                      <a:rPr lang="en-US" i="1">
                        <a:latin typeface="Cambria Math" panose="02040503050406030204" pitchFamily="18" charset="0"/>
                      </a:rPr>
                      <m:t>)]</m:t>
                    </m:r>
                    <m:r>
                      <a:rPr lang="en-US" i="1">
                        <a:latin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𝑤</m:t>
                    </m:r>
                    <m:r>
                      <a:rPr lang="en-US" i="1">
                        <a:latin typeface="Cambria Math" panose="02040503050406030204" pitchFamily="18" charset="0"/>
                      </a:rPr>
                      <m:t>)</m:t>
                    </m:r>
                  </m:oMath>
                </a14:m>
                <a:endParaRPr lang="en-US"/>
              </a:p>
            </p:txBody>
          </p:sp>
        </mc:Choice>
        <mc:Fallback>
          <p:sp>
            <p:nvSpPr>
              <p:cNvPr id="10" name="Rounded Rectangle 9"/>
              <p:cNvSpPr>
                <a:spLocks noRot="1" noChangeAspect="1" noMove="1" noResize="1" noEditPoints="1" noAdjustHandles="1" noChangeArrowheads="1" noChangeShapeType="1" noTextEdit="1"/>
              </p:cNvSpPr>
              <p:nvPr/>
            </p:nvSpPr>
            <p:spPr>
              <a:xfrm>
                <a:off x="8100305" y="2444828"/>
                <a:ext cx="7269893" cy="341852"/>
              </a:xfrm>
              <a:prstGeom prst="roundRect">
                <a:avLst/>
              </a:prstGeom>
              <a:blipFill>
                <a:blip r:embed="rId2"/>
                <a:stretch>
                  <a:fillRect t="-20690" b="-44828"/>
                </a:stretch>
              </a:blipFill>
            </p:spPr>
            <p:txBody>
              <a:bodyPr/>
              <a:lstStyle/>
              <a:p>
                <a:r>
                  <a:rPr lang="en-US">
                    <a:noFill/>
                  </a:rPr>
                  <a:t> </a:t>
                </a:r>
              </a:p>
            </p:txBody>
          </p:sp>
        </mc:Fallback>
      </mc:AlternateContent>
      <p:sp>
        <p:nvSpPr>
          <p:cNvPr id="11" name="Rounded Rectangle 10"/>
          <p:cNvSpPr/>
          <p:nvPr/>
        </p:nvSpPr>
        <p:spPr>
          <a:xfrm>
            <a:off x="8100305" y="2897908"/>
            <a:ext cx="7269893" cy="35421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Convergence guaranteed with </a:t>
            </a:r>
            <a:r>
              <a:rPr lang="el-GR">
                <a:latin typeface="Calibri" panose="020F0502020204030204" pitchFamily="34" charset="0"/>
                <a:cs typeface="Calibri" panose="020F0502020204030204" pitchFamily="34" charset="0"/>
              </a:rPr>
              <a:t>α</a:t>
            </a:r>
            <a:r>
              <a:rPr lang="en-US">
                <a:latin typeface="Calibri" panose="020F0502020204030204" pitchFamily="34" charset="0"/>
                <a:cs typeface="Calibri" panose="020F0502020204030204" pitchFamily="34" charset="0"/>
              </a:rPr>
              <a:t> decreasing</a:t>
            </a:r>
            <a:endParaRPr lang="en-US"/>
          </a:p>
        </p:txBody>
      </p:sp>
      <p:sp>
        <p:nvSpPr>
          <p:cNvPr id="12" name="Rounded Rectangle 11"/>
          <p:cNvSpPr/>
          <p:nvPr/>
        </p:nvSpPr>
        <p:spPr>
          <a:xfrm>
            <a:off x="7750198" y="3363350"/>
            <a:ext cx="5469925" cy="3624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Semi-gradient methods</a:t>
            </a:r>
          </a:p>
        </p:txBody>
      </p:sp>
      <mc:AlternateContent xmlns:mc="http://schemas.openxmlformats.org/markup-compatibility/2006">
        <mc:Choice xmlns:a14="http://schemas.microsoft.com/office/drawing/2010/main" Requires="a14">
          <p:sp>
            <p:nvSpPr>
              <p:cNvPr id="13" name="Rounded Rectangle 12"/>
              <p:cNvSpPr/>
              <p:nvPr/>
            </p:nvSpPr>
            <p:spPr>
              <a:xfrm>
                <a:off x="8100304" y="3837040"/>
                <a:ext cx="7269894" cy="67721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Semi-gradient TD(0): </a:t>
                </a:r>
                <a14:m>
                  <m:oMath xmlns:m="http://schemas.openxmlformats.org/officeDocument/2006/math">
                    <m:r>
                      <a:rPr lang="en-US" i="1">
                        <a:latin typeface="Cambria Math" panose="02040503050406030204" pitchFamily="18" charset="0"/>
                      </a:rPr>
                      <m:t>𝑤</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𝑤</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𝑅</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𝛾</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𝑤</m:t>
                    </m:r>
                    <m:r>
                      <a:rPr lang="en-US" i="1">
                        <a:latin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r>
                      <a:rPr lang="en-US" i="1">
                        <a:latin typeface="Cambria Math" panose="02040503050406030204" pitchFamily="18" charset="0"/>
                      </a:rPr>
                      <m:t>(</m:t>
                    </m:r>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𝑤</m:t>
                    </m:r>
                    <m:r>
                      <a:rPr lang="en-US" i="1">
                        <a:latin typeface="Cambria Math" panose="02040503050406030204" pitchFamily="18" charset="0"/>
                      </a:rPr>
                      <m:t>)]</m:t>
                    </m:r>
                    <m:r>
                      <a:rPr lang="en-US" i="1">
                        <a:latin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r>
                      <a:rPr lang="en-US" i="1">
                        <a:latin typeface="Cambria Math" panose="02040503050406030204" pitchFamily="18" charset="0"/>
                      </a:rPr>
                      <m:t>(</m:t>
                    </m:r>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𝑤</m:t>
                    </m:r>
                    <m:r>
                      <a:rPr lang="en-US" i="1">
                        <a:latin typeface="Cambria Math" panose="02040503050406030204" pitchFamily="18" charset="0"/>
                      </a:rPr>
                      <m:t>)</m:t>
                    </m:r>
                  </m:oMath>
                </a14:m>
                <a:r>
                  <a:rPr lang="en-US"/>
                  <a:t>  </a:t>
                </a:r>
              </a:p>
            </p:txBody>
          </p:sp>
        </mc:Choice>
        <mc:Fallback>
          <p:sp>
            <p:nvSpPr>
              <p:cNvPr id="13" name="Rounded Rectangle 12"/>
              <p:cNvSpPr>
                <a:spLocks noRot="1" noChangeAspect="1" noMove="1" noResize="1" noEditPoints="1" noAdjustHandles="1" noChangeArrowheads="1" noChangeShapeType="1" noTextEdit="1"/>
              </p:cNvSpPr>
              <p:nvPr/>
            </p:nvSpPr>
            <p:spPr>
              <a:xfrm>
                <a:off x="8100304" y="3837040"/>
                <a:ext cx="7269894" cy="677214"/>
              </a:xfrm>
              <a:prstGeom prst="roundRect">
                <a:avLst/>
              </a:prstGeom>
              <a:blipFill>
                <a:blip r:embed="rId3"/>
                <a:stretch>
                  <a:fillRect t="-9649" b="-140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ounded Rectangle 15"/>
              <p:cNvSpPr/>
              <p:nvPr/>
            </p:nvSpPr>
            <p:spPr>
              <a:xfrm>
                <a:off x="8130259" y="4625483"/>
                <a:ext cx="7239939" cy="69087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faster learning | bootstrapped update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a:t> convergence not guaranteed | convergence guaranteed in the linear case</a:t>
                </a:r>
              </a:p>
            </p:txBody>
          </p:sp>
        </mc:Choice>
        <mc:Fallback>
          <p:sp>
            <p:nvSpPr>
              <p:cNvPr id="16" name="Rounded Rectangle 15"/>
              <p:cNvSpPr>
                <a:spLocks noRot="1" noChangeAspect="1" noMove="1" noResize="1" noEditPoints="1" noAdjustHandles="1" noChangeArrowheads="1" noChangeShapeType="1" noTextEdit="1"/>
              </p:cNvSpPr>
              <p:nvPr/>
            </p:nvSpPr>
            <p:spPr>
              <a:xfrm>
                <a:off x="8130259" y="4625483"/>
                <a:ext cx="7239939" cy="690875"/>
              </a:xfrm>
              <a:prstGeom prst="roundRect">
                <a:avLst/>
              </a:prstGeom>
              <a:blipFill>
                <a:blip r:embed="rId4"/>
                <a:stretch>
                  <a:fillRect t="-9565" b="-20870"/>
                </a:stretch>
              </a:blipFill>
            </p:spPr>
            <p:txBody>
              <a:bodyPr/>
              <a:lstStyle/>
              <a:p>
                <a:r>
                  <a:rPr lang="en-US">
                    <a:noFill/>
                  </a:rPr>
                  <a:t> </a:t>
                </a:r>
              </a:p>
            </p:txBody>
          </p:sp>
        </mc:Fallback>
      </mc:AlternateContent>
      <p:sp>
        <p:nvSpPr>
          <p:cNvPr id="24" name="Rounded Rectangle 23"/>
          <p:cNvSpPr/>
          <p:nvPr/>
        </p:nvSpPr>
        <p:spPr>
          <a:xfrm>
            <a:off x="15862517" y="8117125"/>
            <a:ext cx="5468112" cy="451207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Dynamic Programming</a:t>
            </a:r>
          </a:p>
          <a:p>
            <a:pPr algn="ctr"/>
            <a:r>
              <a:rPr lang="en-US"/>
              <a:t>Value iteration – policy improvement and truncated policy evaluation (evaluation stopped after one update of each state)</a:t>
            </a:r>
          </a:p>
          <a:p>
            <a:pPr algn="ctr"/>
            <a:r>
              <a:rPr lang="en-US"/>
              <a:t> alternates between two phases (1) policy evaluation (2) policy improvement</a:t>
            </a:r>
          </a:p>
          <a:p>
            <a:pPr algn="ctr"/>
            <a:r>
              <a:rPr lang="en-US"/>
              <a:t>Bootstrapping method</a:t>
            </a:r>
          </a:p>
          <a:p>
            <a:pPr algn="ctr"/>
            <a:r>
              <a:rPr lang="en-US"/>
              <a:t>Looks like an alternative to directly solving the bellman equations – instead we iteratively compute state values under the policy</a:t>
            </a:r>
          </a:p>
          <a:p>
            <a:pPr algn="ctr"/>
            <a:r>
              <a:rPr lang="en-US"/>
              <a:t>Will eventually converge – so we stop when there are no more changes to the values (once we’ve converged)</a:t>
            </a:r>
          </a:p>
          <a:p>
            <a:pPr algn="ctr"/>
            <a:endParaRPr lang="en-US"/>
          </a:p>
        </p:txBody>
      </p:sp>
      <p:cxnSp>
        <p:nvCxnSpPr>
          <p:cNvPr id="29" name="Straight Connector 28"/>
          <p:cNvCxnSpPr/>
          <p:nvPr/>
        </p:nvCxnSpPr>
        <p:spPr>
          <a:xfrm>
            <a:off x="7607984" y="368203"/>
            <a:ext cx="0" cy="8648537"/>
          </a:xfrm>
          <a:prstGeom prst="line">
            <a:avLst/>
          </a:prstGeom>
          <a:ln w="57150"/>
        </p:spPr>
        <p:style>
          <a:lnRef idx="1">
            <a:schemeClr val="dk1"/>
          </a:lnRef>
          <a:fillRef idx="0">
            <a:schemeClr val="dk1"/>
          </a:fillRef>
          <a:effectRef idx="0">
            <a:schemeClr val="dk1"/>
          </a:effectRef>
          <a:fontRef idx="minor">
            <a:schemeClr val="tx1"/>
          </a:fontRef>
        </p:style>
      </p:cxnSp>
      <p:sp>
        <p:nvSpPr>
          <p:cNvPr id="26" name="Rounded Rectangle 25"/>
          <p:cNvSpPr/>
          <p:nvPr/>
        </p:nvSpPr>
        <p:spPr>
          <a:xfrm>
            <a:off x="7749872" y="5403383"/>
            <a:ext cx="5468112" cy="3657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TD(</a:t>
            </a:r>
            <a:r>
              <a:rPr lang="el-GR">
                <a:latin typeface="Calibri" panose="020F0502020204030204" pitchFamily="34" charset="0"/>
                <a:cs typeface="Calibri" panose="020F0502020204030204" pitchFamily="34" charset="0"/>
              </a:rPr>
              <a:t>λ</a:t>
            </a:r>
            <a:r>
              <a:rPr lang="en-US"/>
              <a:t>)</a:t>
            </a:r>
          </a:p>
        </p:txBody>
      </p:sp>
      <mc:AlternateContent xmlns:mc="http://schemas.openxmlformats.org/markup-compatibility/2006" xmlns:a14="http://schemas.microsoft.com/office/drawing/2010/main">
        <mc:Choice Requires="a14">
          <p:sp>
            <p:nvSpPr>
              <p:cNvPr id="28" name="Rounded Rectangle 27"/>
              <p:cNvSpPr/>
              <p:nvPr/>
            </p:nvSpPr>
            <p:spPr>
              <a:xfrm>
                <a:off x="112733" y="1581203"/>
                <a:ext cx="7318769" cy="533578"/>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a:t>iterates between policy evaluation &amp; policy improvement</a:t>
                </a:r>
              </a:p>
              <a:p>
                <a:r>
                  <a:rPr lang="en-US" sz="1600"/>
                  <a:t> uses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𝑣</m:t>
                        </m:r>
                      </m:e>
                      <m:sub>
                        <m:r>
                          <a:rPr lang="en-US" sz="1600" i="1">
                            <a:latin typeface="Cambria Math" panose="02040503050406030204" pitchFamily="18" charset="0"/>
                          </a:rPr>
                          <m:t>𝑘</m:t>
                        </m:r>
                        <m:r>
                          <a:rPr lang="en-US" sz="1600" i="1">
                            <a:latin typeface="Cambria Math" panose="02040503050406030204" pitchFamily="18" charset="0"/>
                          </a:rPr>
                          <m:t>+1</m:t>
                        </m:r>
                      </m:sub>
                    </m:sSub>
                    <m:d>
                      <m:dPr>
                        <m:ctrlPr>
                          <a:rPr lang="en-US" sz="1600" i="1">
                            <a:latin typeface="Cambria Math" panose="02040503050406030204" pitchFamily="18" charset="0"/>
                          </a:rPr>
                        </m:ctrlPr>
                      </m:dPr>
                      <m:e>
                        <m:r>
                          <a:rPr lang="en-US" sz="1600" i="1">
                            <a:latin typeface="Cambria Math" panose="02040503050406030204" pitchFamily="18" charset="0"/>
                          </a:rPr>
                          <m:t>𝑆</m:t>
                        </m:r>
                      </m:e>
                    </m:d>
                    <m:r>
                      <a:rPr lang="en-US" sz="1600" i="1">
                        <a:latin typeface="Cambria Math" panose="02040503050406030204" pitchFamily="18" charset="0"/>
                      </a:rPr>
                      <m:t>=</m:t>
                    </m:r>
                    <m:nary>
                      <m:naryPr>
                        <m:chr m:val="∑"/>
                        <m:supHide m:val="on"/>
                        <m:ctrlPr>
                          <a:rPr lang="en-US" sz="1600" i="1">
                            <a:latin typeface="Cambria Math" panose="02040503050406030204" pitchFamily="18" charset="0"/>
                          </a:rPr>
                        </m:ctrlPr>
                      </m:naryPr>
                      <m:sub>
                        <m:r>
                          <m:rPr>
                            <m:brk m:alnAt="7"/>
                          </m:rPr>
                          <a:rPr lang="en-US" sz="1600" i="1">
                            <a:latin typeface="Cambria Math" panose="02040503050406030204" pitchFamily="18" charset="0"/>
                          </a:rPr>
                          <m:t>𝑎</m:t>
                        </m:r>
                      </m:sub>
                      <m:sup/>
                      <m:e>
                        <m:r>
                          <a:rPr lang="en-US" sz="1600" i="1">
                            <a:latin typeface="Cambria Math" panose="02040503050406030204" pitchFamily="18" charset="0"/>
                            <a:ea typeface="Cambria Math" panose="02040503050406030204" pitchFamily="18" charset="0"/>
                          </a:rPr>
                          <m:t>𝜋</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𝑎</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𝑠</m:t>
                        </m:r>
                        <m:r>
                          <a:rPr lang="en-US" sz="1600" i="1">
                            <a:latin typeface="Cambria Math" panose="02040503050406030204" pitchFamily="18" charset="0"/>
                            <a:ea typeface="Cambria Math" panose="02040503050406030204" pitchFamily="18" charset="0"/>
                          </a:rPr>
                          <m:t>)</m:t>
                        </m:r>
                      </m:e>
                    </m:nary>
                    <m:nary>
                      <m:naryPr>
                        <m:chr m:val="∑"/>
                        <m:supHide m:val="on"/>
                        <m:ctrlPr>
                          <a:rPr lang="en-US" sz="1600" i="1">
                            <a:latin typeface="Cambria Math" panose="02040503050406030204" pitchFamily="18" charset="0"/>
                          </a:rPr>
                        </m:ctrlPr>
                      </m:naryPr>
                      <m:sub>
                        <m:sSup>
                          <m:sSupPr>
                            <m:ctrlPr>
                              <a:rPr lang="en-US" sz="1600" i="1">
                                <a:latin typeface="Cambria Math" panose="02040503050406030204" pitchFamily="18" charset="0"/>
                              </a:rPr>
                            </m:ctrlPr>
                          </m:sSupPr>
                          <m:e>
                            <m:r>
                              <a:rPr lang="en-US" sz="1600" i="1">
                                <a:latin typeface="Cambria Math" panose="02040503050406030204" pitchFamily="18" charset="0"/>
                              </a:rPr>
                              <m:t>𝑆</m:t>
                            </m:r>
                          </m:e>
                          <m:sup>
                            <m:r>
                              <a:rPr lang="en-US" sz="1600" i="1">
                                <a:latin typeface="Cambria Math" panose="02040503050406030204" pitchFamily="18" charset="0"/>
                              </a:rPr>
                              <m:t>′</m:t>
                            </m:r>
                          </m:sup>
                        </m:sSup>
                        <m:r>
                          <m:rPr>
                            <m:brk m:alnAt="7"/>
                          </m:rPr>
                          <a:rPr lang="en-US" sz="1600" i="1">
                            <a:latin typeface="Cambria Math" panose="02040503050406030204" pitchFamily="18" charset="0"/>
                          </a:rPr>
                          <m:t>,</m:t>
                        </m:r>
                        <m:r>
                          <a:rPr lang="en-US" sz="1600" i="1">
                            <a:latin typeface="Cambria Math" panose="02040503050406030204" pitchFamily="18" charset="0"/>
                          </a:rPr>
                          <m:t>𝑟</m:t>
                        </m:r>
                      </m:sub>
                      <m:sup/>
                      <m:e>
                        <m:r>
                          <a:rPr lang="en-US" sz="1600" i="1">
                            <a:latin typeface="Cambria Math" panose="02040503050406030204" pitchFamily="18" charset="0"/>
                          </a:rPr>
                          <m:t>𝑝</m:t>
                        </m:r>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𝑆</m:t>
                                </m:r>
                              </m:e>
                              <m:sup>
                                <m:r>
                                  <a:rPr lang="en-US" sz="1600" i="1">
                                    <a:latin typeface="Cambria Math" panose="02040503050406030204" pitchFamily="18" charset="0"/>
                                  </a:rPr>
                                  <m:t>′</m:t>
                                </m:r>
                              </m:sup>
                            </m:sSup>
                            <m:r>
                              <a:rPr lang="en-US" sz="1600" i="1">
                                <a:latin typeface="Cambria Math" panose="02040503050406030204" pitchFamily="18" charset="0"/>
                              </a:rPr>
                              <m:t>,</m:t>
                            </m:r>
                            <m:r>
                              <a:rPr lang="en-US" sz="1600" i="1">
                                <a:latin typeface="Cambria Math" panose="02040503050406030204" pitchFamily="18" charset="0"/>
                              </a:rPr>
                              <m:t>𝑟</m:t>
                            </m:r>
                          </m:e>
                          <m:e>
                            <m:r>
                              <a:rPr lang="en-US" sz="1600" i="1">
                                <a:latin typeface="Cambria Math" panose="02040503050406030204" pitchFamily="18" charset="0"/>
                              </a:rPr>
                              <m:t>𝑠</m:t>
                            </m:r>
                            <m:r>
                              <a:rPr lang="en-US" sz="1600" i="1">
                                <a:latin typeface="Cambria Math" panose="02040503050406030204" pitchFamily="18" charset="0"/>
                              </a:rPr>
                              <m:t>,</m:t>
                            </m:r>
                            <m:r>
                              <a:rPr lang="en-US" sz="1600" i="1">
                                <a:latin typeface="Cambria Math" panose="02040503050406030204" pitchFamily="18" charset="0"/>
                              </a:rPr>
                              <m:t>𝑎</m:t>
                            </m:r>
                          </m:e>
                        </m:d>
                        <m:r>
                          <a:rPr lang="en-US" sz="1600" i="1">
                            <a:latin typeface="Cambria Math" panose="02040503050406030204" pitchFamily="18" charset="0"/>
                          </a:rPr>
                          <m:t>[</m:t>
                        </m:r>
                        <m:r>
                          <a:rPr lang="en-US" sz="1600" i="1">
                            <a:latin typeface="Cambria Math" panose="02040503050406030204" pitchFamily="18" charset="0"/>
                          </a:rPr>
                          <m:t>𝑟</m:t>
                        </m:r>
                        <m:r>
                          <a:rPr lang="en-US" sz="1600" i="1">
                            <a:latin typeface="Cambria Math" panose="02040503050406030204" pitchFamily="18" charset="0"/>
                          </a:rPr>
                          <m:t>+ </m:t>
                        </m:r>
                        <m:r>
                          <a:rPr lang="en-US" sz="1600" i="1">
                            <a:latin typeface="Cambria Math" panose="02040503050406030204" pitchFamily="18" charset="0"/>
                            <a:ea typeface="Cambria Math" panose="02040503050406030204" pitchFamily="18" charset="0"/>
                          </a:rPr>
                          <m:t>𝛾</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𝑉</m:t>
                            </m:r>
                          </m:e>
                          <m:sub>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 </m:t>
                            </m:r>
                          </m:sub>
                        </m:sSub>
                        <m:r>
                          <a:rPr lang="en-US" sz="1600" i="1">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𝑆</m:t>
                            </m:r>
                          </m:e>
                          <m:sup>
                            <m:r>
                              <a:rPr lang="en-US" sz="1600" i="1">
                                <a:latin typeface="Cambria Math" panose="02040503050406030204" pitchFamily="18" charset="0"/>
                                <a:ea typeface="Cambria Math" panose="02040503050406030204" pitchFamily="18" charset="0"/>
                              </a:rPr>
                              <m:t>′</m:t>
                            </m:r>
                          </m:sup>
                        </m:s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rPr>
                          <m:t>]</m:t>
                        </m:r>
                      </m:e>
                    </m:nary>
                  </m:oMath>
                </a14:m>
                <a:r>
                  <a:rPr lang="en-US" sz="1600"/>
                  <a:t>as operator </a:t>
                </a:r>
              </a:p>
            </p:txBody>
          </p:sp>
        </mc:Choice>
        <mc:Fallback xmlns="">
          <p:sp>
            <p:nvSpPr>
              <p:cNvPr id="28" name="Rounded Rectangle 27"/>
              <p:cNvSpPr>
                <a:spLocks noRot="1" noChangeAspect="1" noMove="1" noResize="1" noEditPoints="1" noAdjustHandles="1" noChangeArrowheads="1" noChangeShapeType="1" noTextEdit="1"/>
              </p:cNvSpPr>
              <p:nvPr/>
            </p:nvSpPr>
            <p:spPr>
              <a:xfrm>
                <a:off x="112733" y="1581203"/>
                <a:ext cx="7318769" cy="533578"/>
              </a:xfrm>
              <a:prstGeom prst="roundRect">
                <a:avLst/>
              </a:prstGeom>
              <a:blipFill>
                <a:blip r:embed="rId5"/>
                <a:stretch>
                  <a:fillRect t="-27778" b="-106667"/>
                </a:stretch>
              </a:blipFill>
            </p:spPr>
            <p:txBody>
              <a:bodyPr/>
              <a:lstStyle/>
              <a:p>
                <a:r>
                  <a:rPr lang="en-US">
                    <a:noFill/>
                  </a:rPr>
                  <a:t> </a:t>
                </a:r>
              </a:p>
            </p:txBody>
          </p:sp>
        </mc:Fallback>
      </mc:AlternateContent>
      <p:sp>
        <p:nvSpPr>
          <p:cNvPr id="30" name="Rounded Rectangle 29"/>
          <p:cNvSpPr/>
          <p:nvPr/>
        </p:nvSpPr>
        <p:spPr>
          <a:xfrm>
            <a:off x="4034714" y="724344"/>
            <a:ext cx="3431059" cy="2823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a:t>Dynamic Programming</a:t>
            </a:r>
            <a:endParaRPr lang="en-US" sz="1800"/>
          </a:p>
        </p:txBody>
      </p:sp>
      <mc:AlternateContent xmlns:mc="http://schemas.openxmlformats.org/markup-compatibility/2006" xmlns:a14="http://schemas.microsoft.com/office/drawing/2010/main">
        <mc:Choice Requires="a14">
          <p:sp>
            <p:nvSpPr>
              <p:cNvPr id="32" name="Rounded Rectangle 31"/>
              <p:cNvSpPr/>
              <p:nvPr/>
            </p:nvSpPr>
            <p:spPr>
              <a:xfrm>
                <a:off x="112734" y="1046648"/>
                <a:ext cx="7353038" cy="204782"/>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bootstrapping method </a:t>
                </a:r>
                <a:r>
                  <a:rPr lang="en-US" sz="1600"/>
                  <a:t>| </a:t>
                </a:r>
                <a:r>
                  <a:rPr lang="en-US" sz="1600" smtClean="0"/>
                  <a:t>requires model of env. </a:t>
                </a:r>
                <a14:m>
                  <m:oMath xmlns:m="http://schemas.openxmlformats.org/officeDocument/2006/math">
                    <m:r>
                      <a:rPr lang="en-US" sz="1600" i="1">
                        <a:latin typeface="Cambria Math" panose="02040503050406030204" pitchFamily="18" charset="0"/>
                      </a:rPr>
                      <m:t>𝑝</m:t>
                    </m:r>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b="0" i="1" smtClean="0">
                                <a:latin typeface="Cambria Math" panose="02040503050406030204" pitchFamily="18" charset="0"/>
                              </a:rPr>
                              <m:t>𝑠</m:t>
                            </m:r>
                          </m:e>
                          <m:sup>
                            <m:r>
                              <a:rPr lang="en-US" sz="1600" i="1">
                                <a:latin typeface="Cambria Math" panose="02040503050406030204" pitchFamily="18" charset="0"/>
                              </a:rPr>
                              <m:t>′</m:t>
                            </m:r>
                          </m:sup>
                        </m:sSup>
                        <m:r>
                          <a:rPr lang="en-US" sz="1600" i="1">
                            <a:latin typeface="Cambria Math" panose="02040503050406030204" pitchFamily="18" charset="0"/>
                          </a:rPr>
                          <m:t>,</m:t>
                        </m:r>
                        <m:r>
                          <a:rPr lang="en-US" sz="1600" i="1">
                            <a:latin typeface="Cambria Math" panose="02040503050406030204" pitchFamily="18" charset="0"/>
                          </a:rPr>
                          <m:t>𝑟</m:t>
                        </m:r>
                      </m:e>
                      <m:e>
                        <m:r>
                          <a:rPr lang="en-US" sz="1600" i="1">
                            <a:latin typeface="Cambria Math" panose="02040503050406030204" pitchFamily="18" charset="0"/>
                          </a:rPr>
                          <m:t>𝑠</m:t>
                        </m:r>
                        <m:r>
                          <a:rPr lang="en-US" sz="1600" i="1">
                            <a:latin typeface="Cambria Math" panose="02040503050406030204" pitchFamily="18" charset="0"/>
                          </a:rPr>
                          <m:t>,</m:t>
                        </m:r>
                        <m:r>
                          <a:rPr lang="en-US" sz="1600" i="1">
                            <a:latin typeface="Cambria Math" panose="02040503050406030204" pitchFamily="18" charset="0"/>
                          </a:rPr>
                          <m:t>𝑎</m:t>
                        </m:r>
                      </m:e>
                    </m:d>
                  </m:oMath>
                </a14:m>
                <a:r>
                  <a:rPr lang="en-US" sz="1600" smtClean="0"/>
                  <a:t> </a:t>
                </a:r>
                <a:r>
                  <a:rPr lang="en-US" sz="1600"/>
                  <a:t>| </a:t>
                </a:r>
                <a:r>
                  <a:rPr lang="en-US" sz="1600" smtClean="0"/>
                  <a:t>convergence proofs</a:t>
                </a:r>
                <a:endParaRPr lang="en-US" sz="1600"/>
              </a:p>
            </p:txBody>
          </p:sp>
        </mc:Choice>
        <mc:Fallback xmlns="">
          <p:sp>
            <p:nvSpPr>
              <p:cNvPr id="32" name="Rounded Rectangle 31"/>
              <p:cNvSpPr>
                <a:spLocks noRot="1" noChangeAspect="1" noMove="1" noResize="1" noEditPoints="1" noAdjustHandles="1" noChangeArrowheads="1" noChangeShapeType="1" noTextEdit="1"/>
              </p:cNvSpPr>
              <p:nvPr/>
            </p:nvSpPr>
            <p:spPr>
              <a:xfrm>
                <a:off x="112734" y="1046648"/>
                <a:ext cx="7353038" cy="204782"/>
              </a:xfrm>
              <a:prstGeom prst="roundRect">
                <a:avLst/>
              </a:prstGeom>
              <a:blipFill>
                <a:blip r:embed="rId6"/>
                <a:stretch>
                  <a:fillRect l="-165" t="-37143" b="-65714"/>
                </a:stretch>
              </a:blipFill>
            </p:spPr>
            <p:txBody>
              <a:bodyPr/>
              <a:lstStyle/>
              <a:p>
                <a:r>
                  <a:rPr lang="en-US">
                    <a:noFill/>
                  </a:rPr>
                  <a:t> </a:t>
                </a:r>
              </a:p>
            </p:txBody>
          </p:sp>
        </mc:Fallback>
      </mc:AlternateContent>
      <p:sp>
        <p:nvSpPr>
          <p:cNvPr id="33" name="Rounded Rectangle 32"/>
          <p:cNvSpPr/>
          <p:nvPr/>
        </p:nvSpPr>
        <p:spPr>
          <a:xfrm>
            <a:off x="4009281" y="1281590"/>
            <a:ext cx="3431059" cy="28233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a:t>Policy iteration</a:t>
            </a:r>
            <a:endParaRPr lang="en-US" sz="1800"/>
          </a:p>
        </p:txBody>
      </p:sp>
      <p:sp>
        <p:nvSpPr>
          <p:cNvPr id="34" name="Rounded Rectangle 33"/>
          <p:cNvSpPr/>
          <p:nvPr/>
        </p:nvSpPr>
        <p:spPr>
          <a:xfrm>
            <a:off x="4000443" y="2151640"/>
            <a:ext cx="3431059" cy="28233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a:t>Value iteration</a:t>
            </a:r>
            <a:endParaRPr lang="en-US" sz="1800"/>
          </a:p>
        </p:txBody>
      </p:sp>
      <mc:AlternateContent xmlns:mc="http://schemas.openxmlformats.org/markup-compatibility/2006" xmlns:a14="http://schemas.microsoft.com/office/drawing/2010/main">
        <mc:Choice Requires="a14">
          <p:sp>
            <p:nvSpPr>
              <p:cNvPr id="35" name="Rounded Rectangle 34"/>
              <p:cNvSpPr/>
              <p:nvPr/>
            </p:nvSpPr>
            <p:spPr>
              <a:xfrm>
                <a:off x="126517" y="2461710"/>
                <a:ext cx="7304985" cy="533578"/>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a:t>Combines one sweep of policy evaluation with policy improvement</a:t>
                </a:r>
              </a:p>
              <a:p>
                <a:r>
                  <a:rPr lang="en-US" sz="1600"/>
                  <a:t>uses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𝑣</m:t>
                        </m:r>
                      </m:e>
                      <m:sub>
                        <m:r>
                          <a:rPr lang="en-US" sz="1600" i="1">
                            <a:latin typeface="Cambria Math" panose="02040503050406030204" pitchFamily="18" charset="0"/>
                          </a:rPr>
                          <m:t>𝑘</m:t>
                        </m:r>
                        <m:r>
                          <a:rPr lang="en-US" sz="1600" i="1">
                            <a:latin typeface="Cambria Math" panose="02040503050406030204" pitchFamily="18" charset="0"/>
                          </a:rPr>
                          <m:t>+1</m:t>
                        </m:r>
                      </m:sub>
                    </m:sSub>
                    <m:d>
                      <m:dPr>
                        <m:ctrlPr>
                          <a:rPr lang="en-US" sz="1600" i="1">
                            <a:latin typeface="Cambria Math" panose="02040503050406030204" pitchFamily="18" charset="0"/>
                          </a:rPr>
                        </m:ctrlPr>
                      </m:dPr>
                      <m:e>
                        <m:r>
                          <a:rPr lang="en-US" sz="1600" i="1">
                            <a:latin typeface="Cambria Math" panose="02040503050406030204" pitchFamily="18" charset="0"/>
                          </a:rPr>
                          <m:t>𝑆</m:t>
                        </m:r>
                      </m:e>
                    </m:d>
                    <m:r>
                      <a:rPr lang="en-US" sz="1600" i="1">
                        <a:latin typeface="Cambria Math" panose="02040503050406030204" pitchFamily="18" charset="0"/>
                      </a:rPr>
                      <m:t>= </m:t>
                    </m:r>
                    <m:func>
                      <m:funcPr>
                        <m:ctrlPr>
                          <a:rPr lang="en-US" sz="1600" i="1">
                            <a:latin typeface="Cambria Math" panose="02040503050406030204" pitchFamily="18" charset="0"/>
                          </a:rPr>
                        </m:ctrlPr>
                      </m:funcPr>
                      <m:fName>
                        <m:limLow>
                          <m:limLowPr>
                            <m:ctrlPr>
                              <a:rPr lang="en-US" sz="1600" i="1">
                                <a:latin typeface="Cambria Math" panose="02040503050406030204" pitchFamily="18" charset="0"/>
                              </a:rPr>
                            </m:ctrlPr>
                          </m:limLowPr>
                          <m:e>
                            <m:r>
                              <m:rPr>
                                <m:sty m:val="p"/>
                              </m:rPr>
                              <a:rPr lang="en-US" sz="1600">
                                <a:latin typeface="Cambria Math" panose="02040503050406030204" pitchFamily="18" charset="0"/>
                              </a:rPr>
                              <m:t>max</m:t>
                            </m:r>
                          </m:e>
                          <m:lim>
                            <m:r>
                              <a:rPr lang="en-US" sz="1600" i="1">
                                <a:latin typeface="Cambria Math" panose="02040503050406030204" pitchFamily="18" charset="0"/>
                              </a:rPr>
                              <m:t>𝑎</m:t>
                            </m:r>
                          </m:lim>
                        </m:limLow>
                      </m:fName>
                      <m:e>
                        <m:nary>
                          <m:naryPr>
                            <m:chr m:val="∑"/>
                            <m:supHide m:val="on"/>
                            <m:ctrlPr>
                              <a:rPr lang="en-US" sz="1600" i="1">
                                <a:latin typeface="Cambria Math" panose="02040503050406030204" pitchFamily="18" charset="0"/>
                              </a:rPr>
                            </m:ctrlPr>
                          </m:naryPr>
                          <m:sub>
                            <m:sSup>
                              <m:sSupPr>
                                <m:ctrlPr>
                                  <a:rPr lang="en-US" sz="1600" i="1">
                                    <a:latin typeface="Cambria Math" panose="02040503050406030204" pitchFamily="18" charset="0"/>
                                  </a:rPr>
                                </m:ctrlPr>
                              </m:sSupPr>
                              <m:e>
                                <m:r>
                                  <a:rPr lang="en-US" sz="1600" i="1">
                                    <a:latin typeface="Cambria Math" panose="02040503050406030204" pitchFamily="18" charset="0"/>
                                  </a:rPr>
                                  <m:t>𝑆</m:t>
                                </m:r>
                              </m:e>
                              <m:sup>
                                <m:r>
                                  <a:rPr lang="en-US" sz="1600" i="1">
                                    <a:latin typeface="Cambria Math" panose="02040503050406030204" pitchFamily="18" charset="0"/>
                                  </a:rPr>
                                  <m:t>′</m:t>
                                </m:r>
                              </m:sup>
                            </m:sSup>
                            <m:r>
                              <m:rPr>
                                <m:brk m:alnAt="7"/>
                              </m:rPr>
                              <a:rPr lang="en-US" sz="1600" i="1">
                                <a:latin typeface="Cambria Math" panose="02040503050406030204" pitchFamily="18" charset="0"/>
                              </a:rPr>
                              <m:t>,</m:t>
                            </m:r>
                            <m:r>
                              <a:rPr lang="en-US" sz="1600" i="1">
                                <a:latin typeface="Cambria Math" panose="02040503050406030204" pitchFamily="18" charset="0"/>
                              </a:rPr>
                              <m:t>𝑟</m:t>
                            </m:r>
                          </m:sub>
                          <m:sup/>
                          <m:e>
                            <m:r>
                              <a:rPr lang="en-US" sz="1600" i="1">
                                <a:latin typeface="Cambria Math" panose="02040503050406030204" pitchFamily="18" charset="0"/>
                              </a:rPr>
                              <m:t>𝑝</m:t>
                            </m:r>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𝑆</m:t>
                                    </m:r>
                                  </m:e>
                                  <m:sup>
                                    <m:r>
                                      <a:rPr lang="en-US" sz="1600" i="1">
                                        <a:latin typeface="Cambria Math" panose="02040503050406030204" pitchFamily="18" charset="0"/>
                                      </a:rPr>
                                      <m:t>′</m:t>
                                    </m:r>
                                  </m:sup>
                                </m:sSup>
                                <m:r>
                                  <a:rPr lang="en-US" sz="1600" i="1">
                                    <a:latin typeface="Cambria Math" panose="02040503050406030204" pitchFamily="18" charset="0"/>
                                  </a:rPr>
                                  <m:t>,</m:t>
                                </m:r>
                                <m:r>
                                  <a:rPr lang="en-US" sz="1600" i="1">
                                    <a:latin typeface="Cambria Math" panose="02040503050406030204" pitchFamily="18" charset="0"/>
                                  </a:rPr>
                                  <m:t>𝑟</m:t>
                                </m:r>
                              </m:e>
                              <m:e>
                                <m:r>
                                  <a:rPr lang="en-US" sz="1600" i="1">
                                    <a:latin typeface="Cambria Math" panose="02040503050406030204" pitchFamily="18" charset="0"/>
                                  </a:rPr>
                                  <m:t>𝑠</m:t>
                                </m:r>
                                <m:r>
                                  <a:rPr lang="en-US" sz="1600" i="1">
                                    <a:latin typeface="Cambria Math" panose="02040503050406030204" pitchFamily="18" charset="0"/>
                                  </a:rPr>
                                  <m:t>,</m:t>
                                </m:r>
                                <m:r>
                                  <a:rPr lang="en-US" sz="1600" i="1">
                                    <a:latin typeface="Cambria Math" panose="02040503050406030204" pitchFamily="18" charset="0"/>
                                  </a:rPr>
                                  <m:t>𝑎</m:t>
                                </m:r>
                              </m:e>
                            </m:d>
                            <m:r>
                              <a:rPr lang="en-US" sz="1600" i="1">
                                <a:latin typeface="Cambria Math" panose="02040503050406030204" pitchFamily="18" charset="0"/>
                              </a:rPr>
                              <m:t>[</m:t>
                            </m:r>
                            <m:r>
                              <a:rPr lang="en-US" sz="1600" i="1">
                                <a:latin typeface="Cambria Math" panose="02040503050406030204" pitchFamily="18" charset="0"/>
                              </a:rPr>
                              <m:t>𝑟</m:t>
                            </m:r>
                            <m:r>
                              <a:rPr lang="en-US" sz="1600" i="1">
                                <a:latin typeface="Cambria Math" panose="02040503050406030204" pitchFamily="18" charset="0"/>
                              </a:rPr>
                              <m:t>+ </m:t>
                            </m:r>
                            <m:r>
                              <a:rPr lang="en-US" sz="1600" i="1">
                                <a:latin typeface="Cambria Math" panose="02040503050406030204" pitchFamily="18" charset="0"/>
                                <a:ea typeface="Cambria Math" panose="02040503050406030204" pitchFamily="18" charset="0"/>
                              </a:rPr>
                              <m:t>𝛾</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𝑉</m:t>
                                </m:r>
                              </m:e>
                              <m:sub>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 </m:t>
                                </m:r>
                              </m:sub>
                            </m:sSub>
                            <m:r>
                              <a:rPr lang="en-US" sz="1600" i="1">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𝑆</m:t>
                                </m:r>
                              </m:e>
                              <m:sup>
                                <m:r>
                                  <a:rPr lang="en-US" sz="1600" i="1">
                                    <a:latin typeface="Cambria Math" panose="02040503050406030204" pitchFamily="18" charset="0"/>
                                    <a:ea typeface="Cambria Math" panose="02040503050406030204" pitchFamily="18" charset="0"/>
                                  </a:rPr>
                                  <m:t>′</m:t>
                                </m:r>
                              </m:sup>
                            </m:s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rPr>
                              <m:t>]</m:t>
                            </m:r>
                          </m:e>
                        </m:nary>
                      </m:e>
                    </m:func>
                  </m:oMath>
                </a14:m>
                <a:r>
                  <a:rPr lang="en-US" sz="1600"/>
                  <a:t> as operator</a:t>
                </a:r>
              </a:p>
            </p:txBody>
          </p:sp>
        </mc:Choice>
        <mc:Fallback xmlns="">
          <p:sp>
            <p:nvSpPr>
              <p:cNvPr id="35" name="Rounded Rectangle 34"/>
              <p:cNvSpPr>
                <a:spLocks noRot="1" noChangeAspect="1" noMove="1" noResize="1" noEditPoints="1" noAdjustHandles="1" noChangeArrowheads="1" noChangeShapeType="1" noTextEdit="1"/>
              </p:cNvSpPr>
              <p:nvPr/>
            </p:nvSpPr>
            <p:spPr>
              <a:xfrm>
                <a:off x="126517" y="2461710"/>
                <a:ext cx="7304985" cy="533578"/>
              </a:xfrm>
              <a:prstGeom prst="roundRect">
                <a:avLst/>
              </a:prstGeom>
              <a:blipFill>
                <a:blip r:embed="rId7"/>
                <a:stretch>
                  <a:fillRect t="-32584" b="-104494"/>
                </a:stretch>
              </a:blipFill>
            </p:spPr>
            <p:txBody>
              <a:bodyPr/>
              <a:lstStyle/>
              <a:p>
                <a:r>
                  <a:rPr lang="en-US">
                    <a:noFill/>
                  </a:rPr>
                  <a:t> </a:t>
                </a:r>
              </a:p>
            </p:txBody>
          </p:sp>
        </mc:Fallback>
      </mc:AlternateContent>
      <p:sp>
        <p:nvSpPr>
          <p:cNvPr id="36" name="Rounded Rectangle 35"/>
          <p:cNvSpPr/>
          <p:nvPr/>
        </p:nvSpPr>
        <p:spPr>
          <a:xfrm>
            <a:off x="4000442" y="3037662"/>
            <a:ext cx="3431059" cy="2823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Monte Carlo</a:t>
            </a:r>
            <a:endParaRPr lang="en-US" sz="1800"/>
          </a:p>
        </p:txBody>
      </p:sp>
      <mc:AlternateContent xmlns:mc="http://schemas.openxmlformats.org/markup-compatibility/2006">
        <mc:Choice xmlns:a14="http://schemas.microsoft.com/office/drawing/2010/main" Requires="a14">
          <p:sp>
            <p:nvSpPr>
              <p:cNvPr id="37" name="Rounded Rectangle 36"/>
              <p:cNvSpPr/>
              <p:nvPr/>
            </p:nvSpPr>
            <p:spPr>
              <a:xfrm>
                <a:off x="103521" y="3361216"/>
                <a:ext cx="7353038" cy="726465"/>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no model – learns from experience | no bootsrapping | can use with simulation | valid for </a:t>
                </a:r>
                <a:r>
                  <a:rPr lang="en-US" sz="1600" smtClean="0"/>
                  <a:t>episodic| </a:t>
                </a:r>
                <a:r>
                  <a:rPr lang="en-US" sz="1600" smtClean="0"/>
                  <a:t>offline learning (</a:t>
                </a:r>
                <a:r>
                  <a:rPr lang="en-US" sz="1600" smtClean="0"/>
                  <a:t>slow)| </a:t>
                </a:r>
                <a:r>
                  <a:rPr lang="en-US" sz="1600" smtClean="0"/>
                  <a:t>converge as experience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oMath>
                </a14:m>
                <a:r>
                  <a:rPr lang="en-US" sz="1600" smtClean="0"/>
                  <a:t> </a:t>
                </a:r>
                <a:r>
                  <a:rPr lang="en-US" sz="1600" smtClean="0"/>
                  <a:t>| </a:t>
                </a:r>
                <a:r>
                  <a:rPr lang="en-US" sz="1600" smtClean="0"/>
                  <a:t>averaging sample returns | </a:t>
                </a:r>
                <a14:m>
                  <m:oMath xmlns:m="http://schemas.openxmlformats.org/officeDocument/2006/math">
                    <m:r>
                      <a:rPr lang="en-US" sz="1600" i="1">
                        <a:latin typeface="Cambria Math" panose="02040503050406030204" pitchFamily="18" charset="0"/>
                      </a:rPr>
                      <m:t>𝑉</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𝑉</m:t>
                    </m:r>
                    <m:d>
                      <m:dPr>
                        <m:ctrlPr>
                          <a:rPr lang="en-US" sz="1600" i="1">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𝑡</m:t>
                            </m:r>
                          </m:sub>
                        </m:sSub>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𝛼</m:t>
                    </m:r>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𝐺</m:t>
                        </m:r>
                      </m:e>
                      <m:sub>
                        <m:r>
                          <a:rPr lang="en-US" sz="1600" i="1">
                            <a:latin typeface="Cambria Math" panose="02040503050406030204" pitchFamily="18" charset="0"/>
                            <a:ea typeface="Cambria Math" panose="02040503050406030204" pitchFamily="18" charset="0"/>
                          </a:rPr>
                          <m:t>𝑡</m:t>
                        </m:r>
                      </m:sub>
                    </m:s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𝑉</m:t>
                    </m:r>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𝑡</m:t>
                        </m:r>
                      </m:sub>
                    </m:sSub>
                    <m:r>
                      <a:rPr lang="en-US" sz="1600" i="1">
                        <a:latin typeface="Cambria Math" panose="02040503050406030204" pitchFamily="18" charset="0"/>
                        <a:ea typeface="Cambria Math" panose="02040503050406030204" pitchFamily="18" charset="0"/>
                      </a:rPr>
                      <m:t>)]</m:t>
                    </m:r>
                  </m:oMath>
                </a14:m>
                <a:r>
                  <a:rPr lang="en-US" sz="1600" smtClean="0"/>
                  <a:t> | good w/ sparse rewards</a:t>
                </a:r>
                <a:endParaRPr lang="en-US" sz="1600"/>
              </a:p>
            </p:txBody>
          </p:sp>
        </mc:Choice>
        <mc:Fallback>
          <p:sp>
            <p:nvSpPr>
              <p:cNvPr id="37" name="Rounded Rectangle 36"/>
              <p:cNvSpPr>
                <a:spLocks noRot="1" noChangeAspect="1" noMove="1" noResize="1" noEditPoints="1" noAdjustHandles="1" noChangeArrowheads="1" noChangeShapeType="1" noTextEdit="1"/>
              </p:cNvSpPr>
              <p:nvPr/>
            </p:nvSpPr>
            <p:spPr>
              <a:xfrm>
                <a:off x="103521" y="3361216"/>
                <a:ext cx="7353038" cy="726465"/>
              </a:xfrm>
              <a:prstGeom prst="roundRect">
                <a:avLst/>
              </a:prstGeom>
              <a:blipFill>
                <a:blip r:embed="rId8"/>
                <a:stretch>
                  <a:fillRect t="-8197" b="-15574"/>
                </a:stretch>
              </a:blipFill>
            </p:spPr>
            <p:txBody>
              <a:bodyPr/>
              <a:lstStyle/>
              <a:p>
                <a:r>
                  <a:rPr lang="en-US">
                    <a:noFill/>
                  </a:rPr>
                  <a:t> </a:t>
                </a:r>
              </a:p>
            </p:txBody>
          </p:sp>
        </mc:Fallback>
      </mc:AlternateContent>
      <p:sp>
        <p:nvSpPr>
          <p:cNvPr id="38" name="Rounded Rectangle 37"/>
          <p:cNvSpPr/>
          <p:nvPr/>
        </p:nvSpPr>
        <p:spPr>
          <a:xfrm>
            <a:off x="4048741" y="5882352"/>
            <a:ext cx="3431059" cy="2823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Temporal Difference</a:t>
            </a:r>
            <a:endParaRPr lang="en-US" sz="1800"/>
          </a:p>
        </p:txBody>
      </p:sp>
      <p:sp>
        <p:nvSpPr>
          <p:cNvPr id="40" name="Rounded Rectangle 39"/>
          <p:cNvSpPr/>
          <p:nvPr/>
        </p:nvSpPr>
        <p:spPr>
          <a:xfrm>
            <a:off x="4034712" y="5198359"/>
            <a:ext cx="3431059" cy="28233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MC First Visit</a:t>
            </a:r>
            <a:endParaRPr lang="en-US" sz="1800"/>
          </a:p>
        </p:txBody>
      </p:sp>
      <p:sp>
        <p:nvSpPr>
          <p:cNvPr id="41" name="Rounded Rectangle 40"/>
          <p:cNvSpPr/>
          <p:nvPr/>
        </p:nvSpPr>
        <p:spPr>
          <a:xfrm>
            <a:off x="4034711" y="5536083"/>
            <a:ext cx="3431059" cy="28233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MC Every Visit</a:t>
            </a:r>
            <a:endParaRPr lang="en-US" sz="1800"/>
          </a:p>
        </p:txBody>
      </p:sp>
      <p:sp>
        <p:nvSpPr>
          <p:cNvPr id="43" name="Rounded Rectangle 42"/>
          <p:cNvSpPr/>
          <p:nvPr/>
        </p:nvSpPr>
        <p:spPr>
          <a:xfrm>
            <a:off x="15862517" y="4497435"/>
            <a:ext cx="7304985" cy="713486"/>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Experience contains every time that the state was visited | “every-visit methods are often preferred because they remove the need to keep track of which states have been visited and because they are much easier to extend to approximations”</a:t>
            </a:r>
            <a:endParaRPr lang="en-US" sz="1600"/>
          </a:p>
        </p:txBody>
      </p:sp>
      <p:sp>
        <p:nvSpPr>
          <p:cNvPr id="44" name="Rounded Rectangle 43"/>
          <p:cNvSpPr/>
          <p:nvPr/>
        </p:nvSpPr>
        <p:spPr>
          <a:xfrm>
            <a:off x="102489" y="4140595"/>
            <a:ext cx="7353039" cy="1010586"/>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We may not visit every state-action pair – in order to maintain exploration we can have (1) exploring starts (every state-action pair has a nonzero probability of being selected as the start – not realisitic – any other cons??)  (2) e-soft policies ( most of the prob. on the optimal a; some nonzero prob. on other a) (3) off policy</a:t>
            </a:r>
            <a:endParaRPr lang="en-US" sz="1600"/>
          </a:p>
        </p:txBody>
      </p:sp>
      <p:sp>
        <p:nvSpPr>
          <p:cNvPr id="39" name="Rounded Rectangle 38"/>
          <p:cNvSpPr/>
          <p:nvPr/>
        </p:nvSpPr>
        <p:spPr>
          <a:xfrm>
            <a:off x="7784466" y="724344"/>
            <a:ext cx="3431059" cy="2823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Value Function Approximation</a:t>
            </a:r>
            <a:endParaRPr lang="en-US" sz="1800"/>
          </a:p>
        </p:txBody>
      </p:sp>
      <p:sp>
        <p:nvSpPr>
          <p:cNvPr id="45" name="Rounded Rectangle 44"/>
          <p:cNvSpPr/>
          <p:nvPr/>
        </p:nvSpPr>
        <p:spPr>
          <a:xfrm>
            <a:off x="8304192" y="8369583"/>
            <a:ext cx="3431059" cy="2823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Policy Gradient Methods</a:t>
            </a:r>
            <a:endParaRPr lang="en-US" sz="1800"/>
          </a:p>
        </p:txBody>
      </p:sp>
      <p:sp>
        <p:nvSpPr>
          <p:cNvPr id="46" name="Rounded Rectangle 45"/>
          <p:cNvSpPr/>
          <p:nvPr/>
        </p:nvSpPr>
        <p:spPr>
          <a:xfrm>
            <a:off x="15544800" y="6622252"/>
            <a:ext cx="7355960" cy="1132016"/>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Advantages of MC over DP: don’t need to know a model of the env., can use with simulation/sample models, can focus on small subsets of the states: “a region of special interest can be accurately evaluated without going to the expense of accurately evaluating the rest of the state set, MAY BE LESS HARMED BY VIOLATIONS OF THE MARKOV PROPERTY BECAUSE THEY DO NOT BOOTSTRAP</a:t>
            </a:r>
            <a:endParaRPr lang="en-US" sz="1600"/>
          </a:p>
        </p:txBody>
      </p:sp>
      <p:sp>
        <p:nvSpPr>
          <p:cNvPr id="47" name="Rounded Rectangle 46"/>
          <p:cNvSpPr/>
          <p:nvPr/>
        </p:nvSpPr>
        <p:spPr>
          <a:xfrm>
            <a:off x="4009281" y="9296993"/>
            <a:ext cx="3431059" cy="28233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Expected SARSA</a:t>
            </a:r>
            <a:endParaRPr lang="en-US" sz="1800"/>
          </a:p>
        </p:txBody>
      </p:sp>
      <p:sp>
        <p:nvSpPr>
          <p:cNvPr id="48" name="Rounded Rectangle 47"/>
          <p:cNvSpPr/>
          <p:nvPr/>
        </p:nvSpPr>
        <p:spPr>
          <a:xfrm>
            <a:off x="4034709" y="8613591"/>
            <a:ext cx="3431059" cy="28233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Q Learning</a:t>
            </a:r>
            <a:endParaRPr lang="en-US" sz="1800"/>
          </a:p>
        </p:txBody>
      </p:sp>
      <p:sp>
        <p:nvSpPr>
          <p:cNvPr id="49" name="Rounded Rectangle 48"/>
          <p:cNvSpPr/>
          <p:nvPr/>
        </p:nvSpPr>
        <p:spPr>
          <a:xfrm>
            <a:off x="4034709" y="7741562"/>
            <a:ext cx="3431059" cy="28233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SARSA</a:t>
            </a:r>
            <a:endParaRPr lang="en-US" sz="1800" i="1"/>
          </a:p>
        </p:txBody>
      </p:sp>
      <mc:AlternateContent xmlns:mc="http://schemas.openxmlformats.org/markup-compatibility/2006" xmlns:a14="http://schemas.microsoft.com/office/drawing/2010/main">
        <mc:Choice Requires="a14">
          <p:sp>
            <p:nvSpPr>
              <p:cNvPr id="50" name="Rounded Rectangle 49"/>
              <p:cNvSpPr/>
              <p:nvPr/>
            </p:nvSpPr>
            <p:spPr>
              <a:xfrm>
                <a:off x="112734" y="6184846"/>
                <a:ext cx="7353038" cy="711531"/>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no model |bootsrapping | online (less memory and computation) | </a:t>
                </a:r>
                <a14:m>
                  <m:oMath xmlns:m="http://schemas.openxmlformats.org/officeDocument/2006/math">
                    <m:r>
                      <a:rPr lang="en-US" sz="1600" i="1">
                        <a:latin typeface="Cambria Math" panose="02040503050406030204" pitchFamily="18" charset="0"/>
                      </a:rPr>
                      <m:t>𝑉</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𝑉</m:t>
                    </m:r>
                    <m:d>
                      <m:dPr>
                        <m:ctrlPr>
                          <a:rPr lang="en-US" sz="1600" i="1">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𝑡</m:t>
                            </m:r>
                          </m:sub>
                        </m:sSub>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𝛼</m:t>
                    </m:r>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𝑅</m:t>
                        </m:r>
                      </m:e>
                      <m:sub>
                        <m:r>
                          <a:rPr lang="en-US" sz="1600" i="1">
                            <a:latin typeface="Cambria Math" panose="02040503050406030204" pitchFamily="18" charset="0"/>
                            <a:ea typeface="Cambria Math" panose="02040503050406030204" pitchFamily="18" charset="0"/>
                          </a:rPr>
                          <m:t>𝑡</m:t>
                        </m:r>
                        <m:r>
                          <a:rPr lang="en-US" sz="1600" i="1">
                            <a:latin typeface="Cambria Math" panose="02040503050406030204" pitchFamily="18" charset="0"/>
                            <a:ea typeface="Cambria Math" panose="02040503050406030204" pitchFamily="18" charset="0"/>
                          </a:rPr>
                          <m:t>+1</m:t>
                        </m:r>
                      </m:sub>
                    </m:s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𝛾</m:t>
                    </m:r>
                    <m:r>
                      <a:rPr lang="en-US" sz="1600" i="1">
                        <a:latin typeface="Cambria Math" panose="02040503050406030204" pitchFamily="18" charset="0"/>
                        <a:ea typeface="Cambria Math" panose="02040503050406030204" pitchFamily="18" charset="0"/>
                      </a:rPr>
                      <m:t>𝑉</m:t>
                    </m:r>
                    <m:d>
                      <m:dPr>
                        <m:ctrlPr>
                          <a:rPr lang="en-US" sz="1600" i="1">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𝑡</m:t>
                            </m:r>
                            <m:r>
                              <a:rPr lang="en-US" sz="1600" i="1">
                                <a:latin typeface="Cambria Math" panose="02040503050406030204" pitchFamily="18" charset="0"/>
                                <a:ea typeface="Cambria Math" panose="02040503050406030204" pitchFamily="18" charset="0"/>
                              </a:rPr>
                              <m:t>+1</m:t>
                            </m:r>
                          </m:sub>
                        </m:sSub>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𝑉</m:t>
                    </m:r>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𝑡</m:t>
                        </m:r>
                      </m:sub>
                    </m:sSub>
                    <m:r>
                      <a:rPr lang="en-US" sz="1600" i="1">
                        <a:latin typeface="Cambria Math" panose="02040503050406030204" pitchFamily="18" charset="0"/>
                        <a:ea typeface="Cambria Math" panose="02040503050406030204" pitchFamily="18" charset="0"/>
                      </a:rPr>
                      <m:t>)]</m:t>
                    </m:r>
                  </m:oMath>
                </a14:m>
                <a:r>
                  <a:rPr lang="en-US" sz="1600" smtClean="0"/>
                  <a:t> | in practice converge faster than constant-</a:t>
                </a:r>
                <a:r>
                  <a:rPr lang="en-US" sz="1600">
                    <a:ea typeface="Cambria Math" panose="02040503050406030204" pitchFamily="18" charset="0"/>
                  </a:rPr>
                  <a:t> </a:t>
                </a:r>
                <a14:m>
                  <m:oMath xmlns:m="http://schemas.openxmlformats.org/officeDocument/2006/math">
                    <m:r>
                      <a:rPr lang="en-US" sz="1600" i="1">
                        <a:latin typeface="Cambria Math" panose="02040503050406030204" pitchFamily="18" charset="0"/>
                        <a:ea typeface="Cambria Math" panose="02040503050406030204" pitchFamily="18" charset="0"/>
                      </a:rPr>
                      <m:t>𝛼</m:t>
                    </m:r>
                  </m:oMath>
                </a14:m>
                <a:r>
                  <a:rPr lang="en-US" sz="1600" smtClean="0"/>
                  <a:t> MC (WHY DO WE USE CONSTANT </a:t>
                </a:r>
                <a14:m>
                  <m:oMath xmlns:m="http://schemas.openxmlformats.org/officeDocument/2006/math">
                    <m:r>
                      <a:rPr lang="en-US" sz="1600" i="1">
                        <a:latin typeface="Cambria Math" panose="02040503050406030204" pitchFamily="18" charset="0"/>
                        <a:ea typeface="Cambria Math" panose="02040503050406030204" pitchFamily="18" charset="0"/>
                      </a:rPr>
                      <m:t>𝛼</m:t>
                    </m:r>
                  </m:oMath>
                </a14:m>
                <a:r>
                  <a:rPr lang="en-US" sz="1600" smtClean="0"/>
                  <a:t> for MC?)</a:t>
                </a:r>
                <a:endParaRPr lang="en-US" sz="1600"/>
              </a:p>
            </p:txBody>
          </p:sp>
        </mc:Choice>
        <mc:Fallback xmlns="">
          <p:sp>
            <p:nvSpPr>
              <p:cNvPr id="50" name="Rounded Rectangle 49"/>
              <p:cNvSpPr>
                <a:spLocks noRot="1" noChangeAspect="1" noMove="1" noResize="1" noEditPoints="1" noAdjustHandles="1" noChangeArrowheads="1" noChangeShapeType="1" noTextEdit="1"/>
              </p:cNvSpPr>
              <p:nvPr/>
            </p:nvSpPr>
            <p:spPr>
              <a:xfrm>
                <a:off x="112734" y="6184846"/>
                <a:ext cx="7353038" cy="711531"/>
              </a:xfrm>
              <a:prstGeom prst="roundRect">
                <a:avLst/>
              </a:prstGeom>
              <a:blipFill>
                <a:blip r:embed="rId9"/>
                <a:stretch>
                  <a:fillRect t="-10169" b="-177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ounded Rectangle 50"/>
              <p:cNvSpPr/>
              <p:nvPr/>
            </p:nvSpPr>
            <p:spPr>
              <a:xfrm>
                <a:off x="126517" y="6936652"/>
                <a:ext cx="7353038" cy="781028"/>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Convergence conditions: (1) all states visited infinitely often (2) </a:t>
                </a:r>
                <a14:m>
                  <m:oMath xmlns:m="http://schemas.openxmlformats.org/officeDocument/2006/math">
                    <m:nary>
                      <m:naryPr>
                        <m:chr m:val="∑"/>
                        <m:supHide m:val="on"/>
                        <m:ctrlPr>
                          <a:rPr lang="en-US" sz="1600" i="1" smtClean="0">
                            <a:latin typeface="Cambria Math" panose="02040503050406030204" pitchFamily="18" charset="0"/>
                          </a:rPr>
                        </m:ctrlPr>
                      </m:naryPr>
                      <m:sub>
                        <m:r>
                          <m:rPr>
                            <m:brk m:alnAt="7"/>
                          </m:rPr>
                          <a:rPr lang="en-US" sz="1600" b="0" i="1" smtClean="0">
                            <a:latin typeface="Cambria Math" panose="02040503050406030204" pitchFamily="18" charset="0"/>
                          </a:rPr>
                          <m:t>𝑡</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sub>
                        </m:sSub>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𝑠</m:t>
                        </m:r>
                      </m:sub>
                      <m:sup/>
                      <m:e>
                        <m:sSub>
                          <m:sSubPr>
                            <m:ctrlPr>
                              <a:rPr lang="en-US" sz="1600" i="1" smtClean="0">
                                <a:latin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𝛼</m:t>
                            </m:r>
                          </m:e>
                          <m:sub>
                            <m:r>
                              <a:rPr lang="en-US" sz="1600" b="0" i="1" smtClean="0">
                                <a:latin typeface="Cambria Math" panose="02040503050406030204" pitchFamily="18" charset="0"/>
                              </a:rPr>
                              <m:t>𝑡</m:t>
                            </m:r>
                          </m:sub>
                        </m:sSub>
                        <m:r>
                          <a:rPr lang="en-US" sz="1600" i="1" smtClean="0">
                            <a:latin typeface="Cambria Math" panose="02040503050406030204" pitchFamily="18" charset="0"/>
                            <a:ea typeface="Cambria Math" panose="02040503050406030204" pitchFamily="18" charset="0"/>
                          </a:rPr>
                          <m:t>→∞</m:t>
                        </m:r>
                      </m:e>
                    </m:nary>
                  </m:oMath>
                </a14:m>
                <a:r>
                  <a:rPr lang="en-US" sz="1600"/>
                  <a:t> (3)) </a:t>
                </a:r>
                <a14:m>
                  <m:oMath xmlns:m="http://schemas.openxmlformats.org/officeDocument/2006/math">
                    <m:nary>
                      <m:naryPr>
                        <m:chr m:val="∑"/>
                        <m:supHide m:val="on"/>
                        <m:ctrlPr>
                          <a:rPr lang="en-US" sz="1600" i="1">
                            <a:latin typeface="Cambria Math" panose="02040503050406030204" pitchFamily="18" charset="0"/>
                          </a:rPr>
                        </m:ctrlPr>
                      </m:naryPr>
                      <m:sub>
                        <m:r>
                          <m:rPr>
                            <m:brk m:alnAt="7"/>
                          </m:rPr>
                          <a:rPr lang="en-US" sz="1600" i="1">
                            <a:latin typeface="Cambria Math" panose="02040503050406030204" pitchFamily="18" charset="0"/>
                          </a:rPr>
                          <m:t>𝑡</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r>
                          <m:rPr>
                            <m:brk m:alnAt="7"/>
                          </m:rPr>
                          <a:rPr lang="en-US" sz="1600" i="1">
                            <a:latin typeface="Cambria Math" panose="02040503050406030204" pitchFamily="18" charset="0"/>
                          </a:rPr>
                          <m:t>=</m:t>
                        </m:r>
                        <m:r>
                          <a:rPr lang="en-US" sz="1600" i="1">
                            <a:latin typeface="Cambria Math" panose="02040503050406030204" pitchFamily="18" charset="0"/>
                          </a:rPr>
                          <m:t>𝑠</m:t>
                        </m:r>
                      </m:sub>
                      <m:sup/>
                      <m:e>
                        <m:sSup>
                          <m:sSupPr>
                            <m:ctrlPr>
                              <a:rPr lang="en-US" sz="1600" i="1" smtClean="0">
                                <a:latin typeface="Cambria Math" panose="02040503050406030204" pitchFamily="18" charset="0"/>
                              </a:rPr>
                            </m:ctrlPr>
                          </m:sSupPr>
                          <m:e>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𝛼</m:t>
                                </m:r>
                              </m:e>
                              <m:sub>
                                <m:r>
                                  <a:rPr lang="en-US" sz="1600" i="1">
                                    <a:latin typeface="Cambria Math" panose="02040503050406030204" pitchFamily="18" charset="0"/>
                                  </a:rPr>
                                  <m:t>𝑡</m:t>
                                </m:r>
                              </m:sub>
                            </m:sSub>
                          </m:e>
                          <m:sup>
                            <m:r>
                              <a:rPr lang="en-US" sz="1600" b="0" i="1" smtClean="0">
                                <a:latin typeface="Cambria Math" panose="02040503050406030204" pitchFamily="18" charset="0"/>
                              </a:rPr>
                              <m:t>2</m:t>
                            </m:r>
                          </m:sup>
                        </m:sSup>
                      </m:e>
                    </m:nary>
                    <m:r>
                      <a:rPr lang="en-US" sz="1600" b="0" i="1" smtClean="0">
                        <a:latin typeface="Cambria Math" panose="02040503050406030204" pitchFamily="18" charset="0"/>
                        <a:ea typeface="Cambria Math" panose="02040503050406030204" pitchFamily="18" charset="0"/>
                      </a:rPr>
                      <m:t>&lt;∞</m:t>
                    </m:r>
                  </m:oMath>
                </a14:m>
                <a:r>
                  <a:rPr lang="en-US" sz="1600" smtClean="0"/>
                  <a:t> (expected TD update moves toward true value by </a:t>
                </a:r>
                <a14:m>
                  <m:oMath xmlns:m="http://schemas.openxmlformats.org/officeDocument/2006/math">
                    <m:r>
                      <a:rPr lang="en-US" sz="1600" i="1">
                        <a:latin typeface="Cambria Math" panose="02040503050406030204" pitchFamily="18" charset="0"/>
                        <a:ea typeface="Cambria Math" panose="02040503050406030204" pitchFamily="18" charset="0"/>
                      </a:rPr>
                      <m:t>𝛼</m:t>
                    </m:r>
                  </m:oMath>
                </a14:m>
                <a:r>
                  <a:rPr lang="en-US" sz="1600" smtClean="0"/>
                  <a:t> (2&amp;3 stochastic approximation conditions (</a:t>
                </a:r>
                <a14:m>
                  <m:oMath xmlns:m="http://schemas.openxmlformats.org/officeDocument/2006/math">
                    <m:r>
                      <a:rPr lang="en-US" sz="1600" i="1">
                        <a:latin typeface="Cambria Math" panose="02040503050406030204" pitchFamily="18" charset="0"/>
                        <a:ea typeface="Cambria Math" panose="02040503050406030204" pitchFamily="18" charset="0"/>
                      </a:rPr>
                      <m:t>𝛼</m:t>
                    </m:r>
                  </m:oMath>
                </a14:m>
                <a:r>
                  <a:rPr lang="en-US" sz="1600" smtClean="0"/>
                  <a:t>-reduction)</a:t>
                </a:r>
                <a:endParaRPr lang="en-US" sz="1600"/>
              </a:p>
            </p:txBody>
          </p:sp>
        </mc:Choice>
        <mc:Fallback xmlns="">
          <p:sp>
            <p:nvSpPr>
              <p:cNvPr id="51" name="Rounded Rectangle 50"/>
              <p:cNvSpPr>
                <a:spLocks noRot="1" noChangeAspect="1" noMove="1" noResize="1" noEditPoints="1" noAdjustHandles="1" noChangeArrowheads="1" noChangeShapeType="1" noTextEdit="1"/>
              </p:cNvSpPr>
              <p:nvPr/>
            </p:nvSpPr>
            <p:spPr>
              <a:xfrm>
                <a:off x="126517" y="6936652"/>
                <a:ext cx="7353038" cy="781028"/>
              </a:xfrm>
              <a:prstGeom prst="roundRect">
                <a:avLst/>
              </a:prstGeom>
              <a:blipFill>
                <a:blip r:embed="rId10"/>
                <a:stretch>
                  <a:fillRect l="-3146" t="-51538" b="-45385"/>
                </a:stretch>
              </a:blipFill>
            </p:spPr>
            <p:txBody>
              <a:bodyPr/>
              <a:lstStyle/>
              <a:p>
                <a:r>
                  <a:rPr lang="en-US">
                    <a:noFill/>
                  </a:rPr>
                  <a:t> </a:t>
                </a:r>
              </a:p>
            </p:txBody>
          </p:sp>
        </mc:Fallback>
      </mc:AlternateContent>
      <p:sp>
        <p:nvSpPr>
          <p:cNvPr id="53" name="Rounded Rectangle 52"/>
          <p:cNvSpPr/>
          <p:nvPr/>
        </p:nvSpPr>
        <p:spPr>
          <a:xfrm>
            <a:off x="15642484" y="5316344"/>
            <a:ext cx="7355960" cy="1132016"/>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Advantages of TD over MC: “some MC methods must ignore or discount episodes on which experimental actions are taken, which can greatly slow learning. TD methods are much less susceptible to these problems because they learn from each transition regardless of what subsequent actions are taken”</a:t>
            </a:r>
            <a:endParaRPr lang="en-US" sz="1600"/>
          </a:p>
        </p:txBody>
      </p:sp>
      <mc:AlternateContent xmlns:mc="http://schemas.openxmlformats.org/markup-compatibility/2006" xmlns:a14="http://schemas.microsoft.com/office/drawing/2010/main">
        <mc:Choice Requires="a14">
          <p:sp>
            <p:nvSpPr>
              <p:cNvPr id="54" name="Rounded Rectangle 53"/>
              <p:cNvSpPr/>
              <p:nvPr/>
            </p:nvSpPr>
            <p:spPr>
              <a:xfrm>
                <a:off x="126517" y="8062411"/>
                <a:ext cx="7353038" cy="514505"/>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b="0" smtClean="0"/>
                  <a:t>On-policy | </a:t>
                </a:r>
                <a14:m>
                  <m:oMath xmlns:m="http://schemas.openxmlformats.org/officeDocument/2006/math">
                    <m:r>
                      <a:rPr lang="en-US" sz="1600" b="0" i="1" smtClean="0">
                        <a:latin typeface="Cambria Math" panose="02040503050406030204" pitchFamily="18" charset="0"/>
                      </a:rPr>
                      <m:t>𝑄</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m:t>
                            </m:r>
                          </m:e>
                          <m:sub>
                            <m:r>
                              <a:rPr lang="en-US" sz="1600" b="0" i="1" smtClean="0">
                                <a:latin typeface="Cambria Math" panose="02040503050406030204" pitchFamily="18" charset="0"/>
                              </a:rPr>
                              <m:t>𝑡</m:t>
                            </m:r>
                          </m:sub>
                        </m:sSub>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rPr>
                      <m:t>𝑄</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𝑡</m:t>
                            </m:r>
                          </m:sub>
                        </m:sSub>
                      </m:e>
                    </m:d>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𝑅</m:t>
                        </m:r>
                      </m:e>
                      <m:sub>
                        <m:r>
                          <a:rPr lang="en-US" sz="1600" b="0" i="1" smtClean="0">
                            <a:latin typeface="Cambria Math" panose="02040503050406030204" pitchFamily="18" charset="0"/>
                            <a:ea typeface="Cambria Math" panose="02040503050406030204" pitchFamily="18" charset="0"/>
                          </a:rPr>
                          <m:t>𝑡</m:t>
                        </m:r>
                        <m:r>
                          <a:rPr lang="en-US" sz="1600" b="0" i="1" smtClean="0">
                            <a:latin typeface="Cambria Math" panose="02040503050406030204" pitchFamily="18" charset="0"/>
                            <a:ea typeface="Cambria Math" panose="02040503050406030204" pitchFamily="18" charset="0"/>
                          </a:rPr>
                          <m:t>+1</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𝛾</m:t>
                    </m:r>
                    <m:r>
                      <a:rPr lang="en-US" sz="1600" i="1">
                        <a:latin typeface="Cambria Math" panose="02040503050406030204" pitchFamily="18" charset="0"/>
                      </a:rPr>
                      <m:t>𝑄</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r>
                              <a:rPr lang="en-US" sz="1600" b="0" i="1" smtClean="0">
                                <a:latin typeface="Cambria Math" panose="02040503050406030204" pitchFamily="18" charset="0"/>
                              </a:rPr>
                              <m:t>+1</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𝑡</m:t>
                            </m:r>
                            <m:r>
                              <a:rPr lang="en-US" sz="1600" b="0" i="1" smtClean="0">
                                <a:latin typeface="Cambria Math" panose="02040503050406030204" pitchFamily="18" charset="0"/>
                              </a:rPr>
                              <m:t>+1</m:t>
                            </m:r>
                          </m:sub>
                        </m:sSub>
                      </m:e>
                    </m:d>
                    <m:r>
                      <a:rPr lang="en-US" sz="1600" b="0" i="1" smtClean="0">
                        <a:latin typeface="Cambria Math" panose="02040503050406030204" pitchFamily="18" charset="0"/>
                      </a:rPr>
                      <m:t>−</m:t>
                    </m:r>
                    <m:r>
                      <a:rPr lang="en-US" sz="1600" i="1">
                        <a:latin typeface="Cambria Math" panose="02040503050406030204" pitchFamily="18" charset="0"/>
                      </a:rPr>
                      <m:t>𝑄</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𝑡</m:t>
                            </m:r>
                          </m:sub>
                        </m:sSub>
                      </m:e>
                    </m:d>
                    <m:r>
                      <a:rPr lang="en-US" sz="1600" b="0" i="1" smtClean="0">
                        <a:latin typeface="Cambria Math" panose="02040503050406030204" pitchFamily="18" charset="0"/>
                        <a:ea typeface="Cambria Math" panose="02040503050406030204" pitchFamily="18" charset="0"/>
                      </a:rPr>
                      <m:t>]</m:t>
                    </m:r>
                  </m:oMath>
                </a14:m>
                <a:r>
                  <a:rPr lang="en-US" sz="1600" smtClean="0"/>
                  <a:t> | appears particularly sensitive to </a:t>
                </a:r>
                <a14:m>
                  <m:oMath xmlns:m="http://schemas.openxmlformats.org/officeDocument/2006/math">
                    <m:r>
                      <a:rPr lang="en-US" sz="1600" i="1">
                        <a:latin typeface="Cambria Math" panose="02040503050406030204" pitchFamily="18" charset="0"/>
                        <a:ea typeface="Cambria Math" panose="02040503050406030204" pitchFamily="18" charset="0"/>
                      </a:rPr>
                      <m:t>𝛼</m:t>
                    </m:r>
                  </m:oMath>
                </a14:m>
                <a:r>
                  <a:rPr lang="en-US" sz="1600" smtClean="0"/>
                  <a:t> </a:t>
                </a:r>
                <a:endParaRPr lang="en-US" sz="1600"/>
              </a:p>
            </p:txBody>
          </p:sp>
        </mc:Choice>
        <mc:Fallback xmlns="">
          <p:sp>
            <p:nvSpPr>
              <p:cNvPr id="54" name="Rounded Rectangle 53"/>
              <p:cNvSpPr>
                <a:spLocks noRot="1" noChangeAspect="1" noMove="1" noResize="1" noEditPoints="1" noAdjustHandles="1" noChangeArrowheads="1" noChangeShapeType="1" noTextEdit="1"/>
              </p:cNvSpPr>
              <p:nvPr/>
            </p:nvSpPr>
            <p:spPr>
              <a:xfrm>
                <a:off x="126517" y="8062411"/>
                <a:ext cx="7353038" cy="514505"/>
              </a:xfrm>
              <a:prstGeom prst="roundRect">
                <a:avLst/>
              </a:prstGeom>
              <a:blipFill>
                <a:blip r:embed="rId11"/>
                <a:stretch>
                  <a:fillRect l="-83" t="-9302" b="-197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5" name="Rounded Rectangle 54"/>
              <p:cNvSpPr/>
              <p:nvPr/>
            </p:nvSpPr>
            <p:spPr>
              <a:xfrm>
                <a:off x="102490" y="9619597"/>
                <a:ext cx="7353038" cy="765047"/>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14:m>
                  <m:oMath xmlns:m="http://schemas.openxmlformats.org/officeDocument/2006/math">
                    <m:r>
                      <a:rPr lang="en-US" sz="1600" b="0" i="1" smtClean="0">
                        <a:latin typeface="Cambria Math" panose="02040503050406030204" pitchFamily="18" charset="0"/>
                      </a:rPr>
                      <m:t>𝑄</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m:t>
                            </m:r>
                          </m:e>
                          <m:sub>
                            <m:r>
                              <a:rPr lang="en-US" sz="1600" b="0" i="1" smtClean="0">
                                <a:latin typeface="Cambria Math" panose="02040503050406030204" pitchFamily="18" charset="0"/>
                              </a:rPr>
                              <m:t>𝑡</m:t>
                            </m:r>
                          </m:sub>
                        </m:sSub>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rPr>
                      <m:t>𝑄</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𝑡</m:t>
                            </m:r>
                          </m:sub>
                        </m:sSub>
                      </m:e>
                    </m:d>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𝑅</m:t>
                        </m:r>
                      </m:e>
                      <m:sub>
                        <m:r>
                          <a:rPr lang="en-US" sz="1600" b="0" i="1" smtClean="0">
                            <a:latin typeface="Cambria Math" panose="02040503050406030204" pitchFamily="18" charset="0"/>
                            <a:ea typeface="Cambria Math" panose="02040503050406030204" pitchFamily="18" charset="0"/>
                          </a:rPr>
                          <m:t>𝑡</m:t>
                        </m:r>
                        <m:r>
                          <a:rPr lang="en-US" sz="1600" b="0" i="1" smtClean="0">
                            <a:latin typeface="Cambria Math" panose="02040503050406030204" pitchFamily="18" charset="0"/>
                            <a:ea typeface="Cambria Math" panose="02040503050406030204" pitchFamily="18" charset="0"/>
                          </a:rPr>
                          <m:t>+1</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𝛾</m:t>
                    </m:r>
                    <m:nary>
                      <m:naryPr>
                        <m:chr m:val="∑"/>
                        <m:supHide m:val="on"/>
                        <m:ctrlPr>
                          <a:rPr lang="en-US" sz="1600" b="0" i="1" smtClean="0">
                            <a:latin typeface="Cambria Math" panose="02040503050406030204" pitchFamily="18" charset="0"/>
                            <a:ea typeface="Cambria Math" panose="02040503050406030204" pitchFamily="18" charset="0"/>
                          </a:rPr>
                        </m:ctrlPr>
                      </m:naryPr>
                      <m:sub>
                        <m:r>
                          <m:rPr>
                            <m:brk m:alnAt="7"/>
                          </m:rPr>
                          <a:rPr lang="en-US" sz="1600" b="0" i="1" smtClean="0">
                            <a:latin typeface="Cambria Math" panose="02040503050406030204" pitchFamily="18" charset="0"/>
                            <a:ea typeface="Cambria Math" panose="02040503050406030204" pitchFamily="18" charset="0"/>
                          </a:rPr>
                          <m:t>𝑎</m:t>
                        </m:r>
                      </m:sub>
                      <m:sup/>
                      <m:e>
                        <m:r>
                          <a:rPr lang="en-US" sz="1600" b="0" i="1" smtClean="0">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𝑎</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𝑆</m:t>
                            </m:r>
                          </m:e>
                          <m:sub>
                            <m:r>
                              <a:rPr lang="en-US" sz="1600" b="0" i="1" smtClean="0">
                                <a:latin typeface="Cambria Math" panose="02040503050406030204" pitchFamily="18" charset="0"/>
                                <a:ea typeface="Cambria Math" panose="02040503050406030204" pitchFamily="18" charset="0"/>
                              </a:rPr>
                              <m:t>𝑡</m:t>
                            </m:r>
                            <m:r>
                              <a:rPr lang="en-US" sz="1600" b="0" i="1" smtClean="0">
                                <a:latin typeface="Cambria Math" panose="02040503050406030204" pitchFamily="18" charset="0"/>
                                <a:ea typeface="Cambria Math" panose="02040503050406030204" pitchFamily="18" charset="0"/>
                              </a:rPr>
                              <m:t>+1</m:t>
                            </m:r>
                          </m:sub>
                        </m:sSub>
                        <m:r>
                          <a:rPr lang="en-US" sz="1600" b="0" i="1" smtClean="0">
                            <a:latin typeface="Cambria Math" panose="02040503050406030204" pitchFamily="18" charset="0"/>
                            <a:ea typeface="Cambria Math" panose="02040503050406030204" pitchFamily="18" charset="0"/>
                          </a:rPr>
                          <m:t>)</m:t>
                        </m:r>
                      </m:e>
                    </m:nary>
                    <m:r>
                      <a:rPr lang="en-US" sz="1600" i="1">
                        <a:latin typeface="Cambria Math" panose="02040503050406030204" pitchFamily="18" charset="0"/>
                      </a:rPr>
                      <m:t>𝑄</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r>
                              <a:rPr lang="en-US" sz="1600" b="0" i="1" smtClean="0">
                                <a:latin typeface="Cambria Math" panose="02040503050406030204" pitchFamily="18" charset="0"/>
                              </a:rPr>
                              <m:t>+1</m:t>
                            </m:r>
                          </m:sub>
                        </m:sSub>
                        <m:r>
                          <a:rPr lang="en-US" sz="1600" i="1">
                            <a:latin typeface="Cambria Math" panose="02040503050406030204" pitchFamily="18" charset="0"/>
                          </a:rPr>
                          <m:t>,</m:t>
                        </m:r>
                        <m:r>
                          <a:rPr lang="en-US" sz="1600" b="0" i="1" smtClean="0">
                            <a:latin typeface="Cambria Math" panose="02040503050406030204" pitchFamily="18" charset="0"/>
                          </a:rPr>
                          <m:t>𝑎</m:t>
                        </m:r>
                        <m:r>
                          <a:rPr lang="en-US" sz="1600" i="1" smtClean="0">
                            <a:latin typeface="Cambria Math" panose="02040503050406030204" pitchFamily="18" charset="0"/>
                          </a:rPr>
                          <m:t> </m:t>
                        </m:r>
                      </m:e>
                    </m:d>
                    <m:r>
                      <a:rPr lang="en-US" sz="1600" b="0" i="1" smtClean="0">
                        <a:latin typeface="Cambria Math" panose="02040503050406030204" pitchFamily="18" charset="0"/>
                      </a:rPr>
                      <m:t>−</m:t>
                    </m:r>
                    <m:r>
                      <a:rPr lang="en-US" sz="1600" i="1">
                        <a:latin typeface="Cambria Math" panose="02040503050406030204" pitchFamily="18" charset="0"/>
                      </a:rPr>
                      <m:t>𝑄</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𝑡</m:t>
                            </m:r>
                          </m:sub>
                        </m:sSub>
                      </m:e>
                    </m:d>
                    <m:r>
                      <a:rPr lang="en-US" sz="1600" b="0" i="1" smtClean="0">
                        <a:latin typeface="Cambria Math" panose="02040503050406030204" pitchFamily="18" charset="0"/>
                        <a:ea typeface="Cambria Math" panose="02040503050406030204" pitchFamily="18" charset="0"/>
                      </a:rPr>
                      <m:t>]</m:t>
                    </m:r>
                  </m:oMath>
                </a14:m>
                <a:r>
                  <a:rPr lang="en-US" sz="1600" smtClean="0"/>
                  <a:t> | improvements over SARSA: less variance = better performance (faster learning); more flexible in terms of </a:t>
                </a:r>
                <a14:m>
                  <m:oMath xmlns:m="http://schemas.openxmlformats.org/officeDocument/2006/math">
                    <m:r>
                      <a:rPr lang="en-US" sz="1600" i="1">
                        <a:latin typeface="Cambria Math" panose="02040503050406030204" pitchFamily="18" charset="0"/>
                        <a:ea typeface="Cambria Math" panose="02040503050406030204" pitchFamily="18" charset="0"/>
                      </a:rPr>
                      <m:t>𝛼</m:t>
                    </m:r>
                  </m:oMath>
                </a14:m>
                <a:r>
                  <a:rPr lang="en-US" sz="1600"/>
                  <a:t> </a:t>
                </a:r>
                <a:r>
                  <a:rPr lang="en-US" sz="1600" smtClean="0"/>
                  <a:t>| more computationally </a:t>
                </a:r>
                <a:r>
                  <a:rPr lang="en-US" sz="1600" smtClean="0"/>
                  <a:t>complex (considers all next states)</a:t>
                </a:r>
                <a:endParaRPr lang="en-US" sz="1600"/>
              </a:p>
            </p:txBody>
          </p:sp>
        </mc:Choice>
        <mc:Fallback>
          <p:sp>
            <p:nvSpPr>
              <p:cNvPr id="55" name="Rounded Rectangle 54"/>
              <p:cNvSpPr>
                <a:spLocks noRot="1" noChangeAspect="1" noMove="1" noResize="1" noEditPoints="1" noAdjustHandles="1" noChangeArrowheads="1" noChangeShapeType="1" noTextEdit="1"/>
              </p:cNvSpPr>
              <p:nvPr/>
            </p:nvSpPr>
            <p:spPr>
              <a:xfrm>
                <a:off x="102490" y="9619597"/>
                <a:ext cx="7353038" cy="765047"/>
              </a:xfrm>
              <a:prstGeom prst="roundRect">
                <a:avLst/>
              </a:prstGeom>
              <a:blipFill>
                <a:blip r:embed="rId12"/>
                <a:stretch>
                  <a:fillRect t="-50781" b="-140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ounded Rectangle 55"/>
              <p:cNvSpPr/>
              <p:nvPr/>
            </p:nvSpPr>
            <p:spPr>
              <a:xfrm>
                <a:off x="95598" y="8936901"/>
                <a:ext cx="7353038" cy="327756"/>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off</a:t>
                </a:r>
                <a:r>
                  <a:rPr lang="en-US" sz="1600" b="0" smtClean="0"/>
                  <a:t>-policy | </a:t>
                </a:r>
                <a14:m>
                  <m:oMath xmlns:m="http://schemas.openxmlformats.org/officeDocument/2006/math">
                    <m:r>
                      <a:rPr lang="en-US" sz="1600" b="0" i="1" smtClean="0">
                        <a:latin typeface="Cambria Math" panose="02040503050406030204" pitchFamily="18" charset="0"/>
                      </a:rPr>
                      <m:t>𝑄</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m:t>
                            </m:r>
                          </m:e>
                          <m:sub>
                            <m:r>
                              <a:rPr lang="en-US" sz="1600" b="0" i="1" smtClean="0">
                                <a:latin typeface="Cambria Math" panose="02040503050406030204" pitchFamily="18" charset="0"/>
                              </a:rPr>
                              <m:t>𝑡</m:t>
                            </m:r>
                          </m:sub>
                        </m:sSub>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rPr>
                      <m:t>𝑄</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𝑡</m:t>
                            </m:r>
                          </m:sub>
                        </m:sSub>
                      </m:e>
                    </m:d>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𝑅</m:t>
                        </m:r>
                      </m:e>
                      <m:sub>
                        <m:r>
                          <a:rPr lang="en-US" sz="1600" b="0" i="1" smtClean="0">
                            <a:latin typeface="Cambria Math" panose="02040503050406030204" pitchFamily="18" charset="0"/>
                            <a:ea typeface="Cambria Math" panose="02040503050406030204" pitchFamily="18" charset="0"/>
                          </a:rPr>
                          <m:t>𝑡</m:t>
                        </m:r>
                        <m:r>
                          <a:rPr lang="en-US" sz="1600" b="0" i="1" smtClean="0">
                            <a:latin typeface="Cambria Math" panose="02040503050406030204" pitchFamily="18" charset="0"/>
                            <a:ea typeface="Cambria Math" panose="02040503050406030204" pitchFamily="18" charset="0"/>
                          </a:rPr>
                          <m:t>+1</m:t>
                        </m:r>
                      </m:sub>
                    </m:sSub>
                    <m:r>
                      <a:rPr lang="en-US" sz="1600" b="0" i="1" smtClean="0">
                        <a:latin typeface="Cambria Math" panose="02040503050406030204" pitchFamily="18" charset="0"/>
                        <a:ea typeface="Cambria Math" panose="02040503050406030204" pitchFamily="18" charset="0"/>
                      </a:rPr>
                      <m:t>+</m:t>
                    </m:r>
                    <m:func>
                      <m:funcPr>
                        <m:ctrlPr>
                          <a:rPr lang="en-US" sz="1600" b="0" i="1" smtClean="0">
                            <a:latin typeface="Cambria Math" panose="02040503050406030204" pitchFamily="18" charset="0"/>
                            <a:ea typeface="Cambria Math" panose="02040503050406030204" pitchFamily="18" charset="0"/>
                          </a:rPr>
                        </m:ctrlPr>
                      </m:funcPr>
                      <m:fName>
                        <m:limLow>
                          <m:limLowPr>
                            <m:ctrlPr>
                              <a:rPr lang="en-US" sz="1600" b="0" i="1" smtClean="0">
                                <a:latin typeface="Cambria Math" panose="02040503050406030204" pitchFamily="18" charset="0"/>
                                <a:ea typeface="Cambria Math" panose="02040503050406030204" pitchFamily="18" charset="0"/>
                              </a:rPr>
                            </m:ctrlPr>
                          </m:limLowPr>
                          <m:e>
                            <m:r>
                              <m:rPr>
                                <m:sty m:val="p"/>
                              </m:rPr>
                              <a:rPr lang="en-US" sz="1600" b="0" i="0" smtClean="0">
                                <a:latin typeface="Cambria Math" panose="02040503050406030204" pitchFamily="18" charset="0"/>
                                <a:ea typeface="Cambria Math" panose="02040503050406030204" pitchFamily="18" charset="0"/>
                              </a:rPr>
                              <m:t>max</m:t>
                            </m:r>
                          </m:e>
                          <m:lim>
                            <m:r>
                              <a:rPr lang="en-US" sz="1600" b="0" i="1" smtClean="0">
                                <a:latin typeface="Cambria Math" panose="02040503050406030204" pitchFamily="18" charset="0"/>
                                <a:ea typeface="Cambria Math" panose="02040503050406030204" pitchFamily="18" charset="0"/>
                              </a:rPr>
                              <m:t>𝑎</m:t>
                            </m:r>
                          </m:lim>
                        </m:limLow>
                      </m:fName>
                      <m:e>
                        <m:r>
                          <a:rPr lang="en-US" sz="1600" i="1">
                            <a:latin typeface="Cambria Math" panose="02040503050406030204" pitchFamily="18" charset="0"/>
                          </a:rPr>
                          <m:t>𝑄</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m:t>
                            </m:r>
                            <m:r>
                              <a:rPr lang="en-US" sz="1600" b="0" i="1" smtClean="0">
                                <a:latin typeface="Cambria Math" panose="02040503050406030204" pitchFamily="18" charset="0"/>
                              </a:rPr>
                              <m:t>𝑎</m:t>
                            </m:r>
                            <m:r>
                              <a:rPr lang="en-US" sz="1600" i="1" smtClean="0">
                                <a:latin typeface="Cambria Math" panose="02040503050406030204" pitchFamily="18" charset="0"/>
                              </a:rPr>
                              <m:t> </m:t>
                            </m:r>
                          </m:e>
                        </m:d>
                      </m:e>
                    </m:func>
                    <m:r>
                      <a:rPr lang="en-US" sz="1600" b="0" i="1" smtClean="0">
                        <a:latin typeface="Cambria Math" panose="02040503050406030204" pitchFamily="18" charset="0"/>
                      </a:rPr>
                      <m:t>−</m:t>
                    </m:r>
                    <m:r>
                      <a:rPr lang="en-US" sz="1600" i="1">
                        <a:latin typeface="Cambria Math" panose="02040503050406030204" pitchFamily="18" charset="0"/>
                      </a:rPr>
                      <m:t>𝑄</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𝑡</m:t>
                            </m:r>
                          </m:sub>
                        </m:sSub>
                      </m:e>
                    </m:d>
                    <m:r>
                      <a:rPr lang="en-US" sz="1600" b="0" i="1" smtClean="0">
                        <a:latin typeface="Cambria Math" panose="02040503050406030204" pitchFamily="18" charset="0"/>
                        <a:ea typeface="Cambria Math" panose="02040503050406030204" pitchFamily="18" charset="0"/>
                      </a:rPr>
                      <m:t>]</m:t>
                    </m:r>
                  </m:oMath>
                </a14:m>
                <a:endParaRPr lang="en-US" sz="1600"/>
              </a:p>
            </p:txBody>
          </p:sp>
        </mc:Choice>
        <mc:Fallback xmlns="">
          <p:sp>
            <p:nvSpPr>
              <p:cNvPr id="56" name="Rounded Rectangle 55"/>
              <p:cNvSpPr>
                <a:spLocks noRot="1" noChangeAspect="1" noMove="1" noResize="1" noEditPoints="1" noAdjustHandles="1" noChangeArrowheads="1" noChangeShapeType="1" noTextEdit="1"/>
              </p:cNvSpPr>
              <p:nvPr/>
            </p:nvSpPr>
            <p:spPr>
              <a:xfrm>
                <a:off x="95598" y="8936901"/>
                <a:ext cx="7353038" cy="327756"/>
              </a:xfrm>
              <a:prstGeom prst="roundRect">
                <a:avLst/>
              </a:prstGeom>
              <a:blipFill>
                <a:blip r:embed="rId13"/>
                <a:stretch>
                  <a:fillRect l="-166" t="-5357" b="-21429"/>
                </a:stretch>
              </a:blipFill>
            </p:spPr>
            <p:txBody>
              <a:bodyPr/>
              <a:lstStyle/>
              <a:p>
                <a:r>
                  <a:rPr lang="en-US">
                    <a:noFill/>
                  </a:rPr>
                  <a:t> </a:t>
                </a:r>
              </a:p>
            </p:txBody>
          </p:sp>
        </mc:Fallback>
      </mc:AlternateContent>
      <p:sp>
        <p:nvSpPr>
          <p:cNvPr id="42" name="Rounded Rectangle 41"/>
          <p:cNvSpPr/>
          <p:nvPr/>
        </p:nvSpPr>
        <p:spPr>
          <a:xfrm>
            <a:off x="4034709" y="10442978"/>
            <a:ext cx="3431059" cy="2823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800" i="1" smtClean="0"/>
              <a:t>n-step methods</a:t>
            </a:r>
            <a:endParaRPr lang="en-US" sz="1800"/>
          </a:p>
        </p:txBody>
      </p:sp>
      <p:sp>
        <p:nvSpPr>
          <p:cNvPr id="52" name="Rounded Rectangle 51"/>
          <p:cNvSpPr/>
          <p:nvPr/>
        </p:nvSpPr>
        <p:spPr>
          <a:xfrm>
            <a:off x="126517" y="11537350"/>
            <a:ext cx="7353038" cy="803805"/>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allow </a:t>
            </a:r>
            <a:r>
              <a:rPr lang="en-US" sz="1600" smtClean="0"/>
              <a:t>bootstrapping to occur over multiple </a:t>
            </a:r>
            <a:r>
              <a:rPr lang="en-US" sz="1600" smtClean="0"/>
              <a:t>steps (bootstrapping works better over more time steps) </a:t>
            </a:r>
            <a:r>
              <a:rPr lang="en-US" sz="1600" smtClean="0"/>
              <a:t>| </a:t>
            </a:r>
            <a:r>
              <a:rPr lang="en-US" sz="1600" smtClean="0"/>
              <a:t>delay </a:t>
            </a:r>
            <a:r>
              <a:rPr lang="en-US" sz="1600" smtClean="0"/>
              <a:t>of n-steps before </a:t>
            </a:r>
            <a:r>
              <a:rPr lang="en-US" sz="1600" smtClean="0"/>
              <a:t>updating | </a:t>
            </a:r>
            <a:r>
              <a:rPr lang="en-US" sz="1600" smtClean="0"/>
              <a:t>more memory required for n-step than for one </a:t>
            </a:r>
            <a:r>
              <a:rPr lang="en-US" sz="1600" smtClean="0"/>
              <a:t>step | more </a:t>
            </a:r>
            <a:r>
              <a:rPr lang="en-US" sz="1600" smtClean="0"/>
              <a:t>complex than those using eligibility traces </a:t>
            </a:r>
            <a:endParaRPr lang="en-US" sz="1600"/>
          </a:p>
        </p:txBody>
      </p:sp>
      <mc:AlternateContent xmlns:mc="http://schemas.openxmlformats.org/markup-compatibility/2006">
        <mc:Choice xmlns:a14="http://schemas.microsoft.com/office/drawing/2010/main" Requires="a14">
          <p:sp>
            <p:nvSpPr>
              <p:cNvPr id="57" name="Rounded Rectangle 56"/>
              <p:cNvSpPr/>
              <p:nvPr/>
            </p:nvSpPr>
            <p:spPr>
              <a:xfrm>
                <a:off x="7647199" y="5839975"/>
                <a:ext cx="7353038" cy="6541962"/>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Eligibility traces “enable bootstrapping over multiple time intervals simultaneously” </a:t>
                </a:r>
              </a:p>
              <a:p>
                <a:r>
                  <a:rPr lang="en-US" sz="1600" smtClean="0"/>
                  <a:t>Minimal memory and computational complexity compared to n-step</a:t>
                </a:r>
              </a:p>
              <a:p>
                <a:r>
                  <a:rPr lang="en-US" sz="1600" smtClean="0"/>
                  <a:t>Provide a way of implementing MC online and on continuing problems </a:t>
                </a:r>
              </a:p>
              <a:p>
                <a:r>
                  <a:rPr lang="en-US" sz="1600" smtClean="0"/>
                  <a:t>“primary computational advantage is that only a single trace vector is required rather than a store of the last n feature vectors. Learning occurs continually in time rather than being delayed til the end of the episode or by n steps</a:t>
                </a:r>
              </a:p>
              <a:p>
                <a:r>
                  <a:rPr lang="en-US" sz="1600" smtClean="0"/>
                  <a:t>The trace indicates “the eligibility of each component of the weight vector for undergoing learning changes should a reinforcing event occur” – how much each weight needs to change</a:t>
                </a:r>
              </a:p>
              <a:p>
                <a:endParaRPr lang="en-US" sz="1600"/>
              </a:p>
              <a:p>
                <a:r>
                  <a:rPr lang="en-US" sz="1600" smtClean="0"/>
                  <a:t>“at each moment we look at the current TD error and assign it backward to each prior state according to how much that state contributed to the current eligibility trace at that time”</a:t>
                </a:r>
              </a:p>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𝑧</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𝛾𝜆</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𝑧</m:t>
                          </m:r>
                        </m:e>
                        <m:sub>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m:t>
                      </m:r>
                      <m:acc>
                        <m:accPr>
                          <m:chr m:val="̂"/>
                          <m:ctrlPr>
                            <a:rPr lang="en-US" sz="1600" b="0" i="1" smtClean="0">
                              <a:latin typeface="Cambria Math" panose="02040503050406030204" pitchFamily="18" charset="0"/>
                              <a:ea typeface="Cambria Math" panose="02040503050406030204" pitchFamily="18" charset="0"/>
                            </a:rPr>
                          </m:ctrlPr>
                        </m:accPr>
                        <m:e>
                          <m:r>
                            <a:rPr lang="en-US" sz="1600" b="0" i="1" smtClean="0">
                              <a:latin typeface="Cambria Math" panose="02040503050406030204" pitchFamily="18" charset="0"/>
                              <a:ea typeface="Cambria Math" panose="02040503050406030204" pitchFamily="18" charset="0"/>
                            </a:rPr>
                            <m:t>𝑣</m:t>
                          </m:r>
                        </m:e>
                      </m:acc>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𝑡</m:t>
                              </m:r>
                            </m:sub>
                          </m:sSub>
                        </m:e>
                      </m:d>
                    </m:oMath>
                  </m:oMathPara>
                </a14:m>
                <a:endParaRPr lang="en-US" sz="1600" b="0" smtClean="0"/>
              </a:p>
              <a:p>
                <a:r>
                  <a:rPr lang="en-US" sz="1600" smtClean="0"/>
                  <a:t>If </a:t>
                </a:r>
                <a14:m>
                  <m:oMath xmlns:m="http://schemas.openxmlformats.org/officeDocument/2006/math">
                    <m:r>
                      <a:rPr lang="en-US" sz="1600" i="1">
                        <a:latin typeface="Cambria Math" panose="02040503050406030204" pitchFamily="18" charset="0"/>
                        <a:ea typeface="Cambria Math" panose="02040503050406030204" pitchFamily="18" charset="0"/>
                      </a:rPr>
                      <m:t>𝜆</m:t>
                    </m:r>
                  </m:oMath>
                </a14:m>
                <a:r>
                  <a:rPr lang="en-US" sz="1600" smtClean="0"/>
                  <a:t> = 0, then it becomes the one-step semi-gradient TD update</a:t>
                </a:r>
              </a:p>
              <a:p>
                <a:r>
                  <a:rPr lang="en-US" sz="1600"/>
                  <a:t>If </a:t>
                </a:r>
                <a14:m>
                  <m:oMath xmlns:m="http://schemas.openxmlformats.org/officeDocument/2006/math">
                    <m:r>
                      <a:rPr lang="en-US" sz="1600" i="1">
                        <a:latin typeface="Cambria Math" panose="02040503050406030204" pitchFamily="18" charset="0"/>
                        <a:ea typeface="Cambria Math" panose="02040503050406030204" pitchFamily="18" charset="0"/>
                      </a:rPr>
                      <m:t>𝜆</m:t>
                    </m:r>
                  </m:oMath>
                </a14:m>
                <a:r>
                  <a:rPr lang="en-US" sz="1600"/>
                  <a:t> = </a:t>
                </a:r>
                <a:r>
                  <a:rPr lang="en-US" sz="1600" smtClean="0"/>
                  <a:t>1, </a:t>
                </a:r>
                <a:r>
                  <a:rPr lang="en-US" sz="1600"/>
                  <a:t>then </a:t>
                </a:r>
                <a:r>
                  <a:rPr lang="en-US" sz="1600" smtClean="0"/>
                  <a:t>it takes on MC behavior </a:t>
                </a:r>
                <a:r>
                  <a:rPr lang="en-US" sz="1600" smtClean="0">
                    <a:sym typeface="Wingdings" panose="05000000000000000000" pitchFamily="2" charset="2"/>
                  </a:rPr>
                  <a:t> but unlike traditional MC, can learn online (and therefore also be used with non-episodic continuing tasks)</a:t>
                </a:r>
              </a:p>
              <a:p>
                <a:r>
                  <a:rPr lang="en-US" sz="1600" smtClean="0">
                    <a:sym typeface="Wingdings" panose="05000000000000000000" pitchFamily="2" charset="2"/>
                  </a:rPr>
                  <a:t>TD(1) is MC with eligibility traces – sensitive to </a:t>
                </a:r>
                <a14:m>
                  <m:oMath xmlns:m="http://schemas.openxmlformats.org/officeDocument/2006/math">
                    <m:r>
                      <a:rPr lang="en-US" sz="1600" i="1" smtClean="0">
                        <a:latin typeface="Cambria Math" panose="02040503050406030204" pitchFamily="18" charset="0"/>
                        <a:ea typeface="Cambria Math" panose="02040503050406030204" pitchFamily="18" charset="0"/>
                        <a:sym typeface="Wingdings" panose="05000000000000000000" pitchFamily="2" charset="2"/>
                      </a:rPr>
                      <m:t>𝛼</m:t>
                    </m:r>
                  </m:oMath>
                </a14:m>
                <a:endParaRPr lang="en-US" sz="1600" smtClean="0"/>
              </a:p>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𝛼</m:t>
                      </m:r>
                      <m:sSub>
                        <m:sSubPr>
                          <m:ctrlPr>
                            <a:rPr lang="en-US" sz="1600" i="1" smtClean="0">
                              <a:latin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𝛿</m:t>
                          </m:r>
                        </m:e>
                        <m:sub>
                          <m:r>
                            <a:rPr lang="en-US" sz="1600" b="0" i="1" smtClean="0">
                              <a:latin typeface="Cambria Math" panose="02040503050406030204" pitchFamily="18" charset="0"/>
                            </a:rPr>
                            <m:t>𝑡</m:t>
                          </m:r>
                        </m:sub>
                      </m:sSub>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𝑧</m:t>
                          </m:r>
                        </m:e>
                        <m:sub>
                          <m:r>
                            <a:rPr lang="en-US" sz="1600" b="0" i="1" smtClean="0">
                              <a:latin typeface="Cambria Math" panose="02040503050406030204" pitchFamily="18" charset="0"/>
                            </a:rPr>
                            <m:t>𝑡</m:t>
                          </m:r>
                        </m:sub>
                      </m:sSub>
                    </m:oMath>
                  </m:oMathPara>
                </a14:m>
                <a:endParaRPr lang="en-US" sz="1600" smtClean="0"/>
              </a:p>
              <a:p>
                <a:r>
                  <a:rPr lang="en-US" sz="1600" smtClean="0"/>
                  <a:t>With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𝛿</m:t>
                        </m:r>
                      </m:e>
                      <m:sub>
                        <m:r>
                          <a:rPr lang="en-US" sz="1600" i="1">
                            <a:latin typeface="Cambria Math" panose="02040503050406030204" pitchFamily="18" charset="0"/>
                          </a:rPr>
                          <m:t>𝑡</m:t>
                        </m:r>
                      </m:sub>
                    </m:sSub>
                  </m:oMath>
                </a14:m>
                <a:r>
                  <a:rPr lang="en-US" sz="1600" smtClean="0"/>
                  <a:t> the TD error as usual and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a:rPr lang="en-US" sz="1600" i="1">
                            <a:latin typeface="Cambria Math" panose="02040503050406030204" pitchFamily="18" charset="0"/>
                          </a:rPr>
                          <m:t>𝑡</m:t>
                        </m:r>
                      </m:sub>
                    </m:sSub>
                  </m:oMath>
                </a14:m>
                <a:r>
                  <a:rPr lang="en-US" sz="1600" smtClean="0"/>
                  <a:t> the eligibility trace </a:t>
                </a:r>
              </a:p>
              <a:p>
                <a:r>
                  <a:rPr lang="en-US" sz="1600" smtClean="0"/>
                  <a:t>Bootstrapping with a non-Markov tasks introduces error – so good to avoid bootstrapping if we have a non-Markov task</a:t>
                </a:r>
              </a:p>
              <a:p>
                <a:r>
                  <a:rPr lang="en-US" sz="1600" smtClean="0"/>
                  <a:t>More computation required than for one-step, but faster learning</a:t>
                </a:r>
              </a:p>
              <a:p>
                <a:r>
                  <a:rPr lang="en-US" sz="1600" smtClean="0"/>
                  <a:t>Makes sense to use eligibility traces when data are scarce, not when data “can be generated cheaply, perhaps from an inexpensive simulation”</a:t>
                </a:r>
                <a:endParaRPr lang="en-US" sz="1600"/>
              </a:p>
            </p:txBody>
          </p:sp>
        </mc:Choice>
        <mc:Fallback>
          <p:sp>
            <p:nvSpPr>
              <p:cNvPr id="57" name="Rounded Rectangle 56"/>
              <p:cNvSpPr>
                <a:spLocks noRot="1" noChangeAspect="1" noMove="1" noResize="1" noEditPoints="1" noAdjustHandles="1" noChangeArrowheads="1" noChangeShapeType="1" noTextEdit="1"/>
              </p:cNvSpPr>
              <p:nvPr/>
            </p:nvSpPr>
            <p:spPr>
              <a:xfrm>
                <a:off x="7647199" y="5839975"/>
                <a:ext cx="7353038" cy="6541962"/>
              </a:xfrm>
              <a:prstGeom prst="roundRect">
                <a:avLst/>
              </a:prstGeom>
              <a:blipFill>
                <a:blip r:embed="rId14"/>
                <a:stretch>
                  <a:fillRect b="-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ounded Rectangle 57"/>
              <p:cNvSpPr/>
              <p:nvPr/>
            </p:nvSpPr>
            <p:spPr>
              <a:xfrm>
                <a:off x="126517" y="10803532"/>
                <a:ext cx="7353038" cy="655594"/>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Uses </a:t>
                </a:r>
                <a14:m>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𝐺</m:t>
                        </m:r>
                      </m:e>
                      <m:sub>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𝑛</m:t>
                        </m:r>
                      </m:sub>
                    </m:sSub>
                    <m:r>
                      <a:rPr lang="en-US" sz="1600" b="0" i="1" smtClean="0">
                        <a:latin typeface="Cambria Math" panose="02040503050406030204" pitchFamily="18" charset="0"/>
                      </a:rPr>
                      <m:t>=</m:t>
                    </m:r>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𝛾</m:t>
                        </m:r>
                      </m:e>
                      <m:sup>
                        <m:r>
                          <a:rPr lang="en-US" sz="1600" b="0" i="1" smtClean="0">
                            <a:latin typeface="Cambria Math" panose="02040503050406030204" pitchFamily="18" charset="0"/>
                            <a:ea typeface="Cambria Math" panose="02040503050406030204" pitchFamily="18" charset="0"/>
                          </a:rPr>
                          <m:t>1</m:t>
                        </m:r>
                      </m:sup>
                    </m:sSup>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𝑡</m:t>
                        </m:r>
                        <m:r>
                          <a:rPr lang="en-US" sz="1600" b="0" i="1" smtClean="0">
                            <a:latin typeface="Cambria Math" panose="02040503050406030204" pitchFamily="18" charset="0"/>
                          </a:rPr>
                          <m:t>+2</m:t>
                        </m:r>
                      </m:sub>
                    </m:sSub>
                    <m:r>
                      <a:rPr lang="en-US" sz="1600" b="0" i="1" smtClean="0">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𝛾</m:t>
                        </m:r>
                      </m:e>
                      <m:sup>
                        <m:r>
                          <a:rPr lang="en-US" sz="1600" i="1">
                            <a:latin typeface="Cambria Math" panose="02040503050406030204" pitchFamily="18" charset="0"/>
                          </a:rPr>
                          <m:t>𝑛</m:t>
                        </m:r>
                        <m:r>
                          <a:rPr lang="en-US" sz="1600" b="0" i="1" smtClean="0">
                            <a:latin typeface="Cambria Math" panose="02040503050406030204" pitchFamily="18" charset="0"/>
                          </a:rPr>
                          <m:t>−1</m:t>
                        </m:r>
                      </m:sup>
                    </m:sSup>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𝑛</m:t>
                        </m:r>
                      </m:sub>
                    </m:sSub>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𝛾</m:t>
                        </m:r>
                      </m:e>
                      <m:sup>
                        <m:r>
                          <a:rPr lang="en-US" sz="1600" b="0" i="1" smtClean="0">
                            <a:latin typeface="Cambria Math" panose="02040503050406030204" pitchFamily="18" charset="0"/>
                          </a:rPr>
                          <m:t>𝑛</m:t>
                        </m:r>
                      </m:sup>
                    </m:sSup>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𝑄</m:t>
                        </m:r>
                      </m:e>
                      <m:sub>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𝑛</m:t>
                        </m:r>
                        <m:r>
                          <a:rPr lang="en-US" sz="1600" b="0" i="1" smtClean="0">
                            <a:latin typeface="Cambria Math" panose="02040503050406030204" pitchFamily="18" charset="0"/>
                          </a:rPr>
                          <m:t>−1</m:t>
                        </m:r>
                      </m:sub>
                    </m:sSub>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𝑛</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m:t>
                            </m:r>
                          </m:e>
                          <m:sub>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𝑛</m:t>
                            </m:r>
                          </m:sub>
                        </m:sSub>
                      </m:e>
                    </m:d>
                  </m:oMath>
                </a14:m>
                <a:r>
                  <a:rPr lang="en-US" sz="1600" smtClean="0"/>
                  <a:t> as the target value </a:t>
                </a:r>
                <a:endParaRPr lang="en-US" sz="1600"/>
              </a:p>
            </p:txBody>
          </p:sp>
        </mc:Choice>
        <mc:Fallback xmlns="">
          <p:sp>
            <p:nvSpPr>
              <p:cNvPr id="58" name="Rounded Rectangle 57"/>
              <p:cNvSpPr>
                <a:spLocks noRot="1" noChangeAspect="1" noMove="1" noResize="1" noEditPoints="1" noAdjustHandles="1" noChangeArrowheads="1" noChangeShapeType="1" noTextEdit="1"/>
              </p:cNvSpPr>
              <p:nvPr/>
            </p:nvSpPr>
            <p:spPr>
              <a:xfrm>
                <a:off x="126517" y="10803532"/>
                <a:ext cx="7353038" cy="655594"/>
              </a:xfrm>
              <a:prstGeom prst="roundRect">
                <a:avLst/>
              </a:prstGeom>
              <a:blipFill>
                <a:blip r:embed="rId15"/>
                <a:stretch>
                  <a:fillRect b="-5455"/>
                </a:stretch>
              </a:blipFill>
            </p:spPr>
            <p:txBody>
              <a:bodyPr/>
              <a:lstStyle/>
              <a:p>
                <a:r>
                  <a:rPr lang="en-US">
                    <a:noFill/>
                  </a:rPr>
                  <a:t> </a:t>
                </a:r>
              </a:p>
            </p:txBody>
          </p:sp>
        </mc:Fallback>
      </mc:AlternateContent>
      <p:sp>
        <p:nvSpPr>
          <p:cNvPr id="59" name="Rounded Rectangle 58"/>
          <p:cNvSpPr/>
          <p:nvPr/>
        </p:nvSpPr>
        <p:spPr>
          <a:xfrm>
            <a:off x="15642484" y="3508977"/>
            <a:ext cx="7353038" cy="966276"/>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smtClean="0"/>
              <a:t>Advtantages of n-step TD over one step : One step TD: “in many applications one wants to be able to update the action very fast to take into account anything that has changed, but bootstrapping works best if it is over a length of time in which a significant and recognizable state change has occurred”</a:t>
            </a:r>
            <a:endParaRPr lang="en-US" sz="1600"/>
          </a:p>
        </p:txBody>
      </p:sp>
    </p:spTree>
    <p:extLst>
      <p:ext uri="{BB962C8B-B14F-4D97-AF65-F5344CB8AC3E}">
        <p14:creationId xmlns:p14="http://schemas.microsoft.com/office/powerpoint/2010/main" val="24961922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4771</TotalTime>
  <Words>1040</Words>
  <Application>Microsoft Office PowerPoint</Application>
  <PresentationFormat>Custom</PresentationFormat>
  <Paragraphs>101</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Calibri Light</vt:lpstr>
      <vt:lpstr>Cambria Math</vt:lpstr>
      <vt:lpstr>Wingdings</vt:lpstr>
      <vt:lpstr>Office Theme</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Melvin Wild</dc:creator>
  <cp:lastModifiedBy>Melvin Wild</cp:lastModifiedBy>
  <cp:revision>73</cp:revision>
  <dcterms:created xsi:type="dcterms:W3CDTF">2019-03-12T11:46:52Z</dcterms:created>
  <dcterms:modified xsi:type="dcterms:W3CDTF">2019-04-30T12:29:02Z</dcterms:modified>
</cp:coreProperties>
</file>